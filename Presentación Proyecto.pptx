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3F68F1-5789-0ECF-2228-762F7929B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625571-00D0-6AC1-8B42-562316DFF5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57596A-E593-E81F-7195-70DDDE8EE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1BCEAF-C0C8-75F5-5521-CD5B08A70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E11205-EF09-9AD3-3E15-9B757A4F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24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E5B8F-2D58-D34C-1091-4E1CBEDA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6D7AA4-981F-F582-F378-D743516D7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000C03-39D4-A2C1-BD93-3A1E27912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4F9671-21B7-17F0-FC23-ADE509DFE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E0935F-FF89-36CD-131D-D440D662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8315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DE1DD6-BE00-7CBF-BF08-3B35D9718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5AA5CA-A763-4F15-2202-869EE8AF8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22A214-9166-73BE-D0F3-12B89A590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03B563-AB34-43A9-6B4F-C80C1B07E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4DE63D-CB13-3A81-666E-506109513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97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552209-42A8-0B53-6776-20E94A50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5C78AD3-DCAB-EB3E-F89F-57C90D8EB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FC2F3B6-7EEC-1791-4E70-52ABC93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485B31-E532-A354-1481-02642F6B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6FACBB-DF25-3A13-89FA-D4B28EA8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D7FE31F-4630-7E0F-F0F4-F8D62D4DB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31628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E4A17-6BC9-21D5-4100-F35DA86A2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02C5A0-B809-047E-E80C-6540A4561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71B3F56-FA2A-3804-3945-6564EF655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D7DD76B-B222-8C35-F2D3-3598BE502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B7AC7C8-7FAB-1DF4-2BDD-DB189D5A7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E0B53DE-1FD9-CD30-73B4-ED733AADD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7628CF2-3C91-D86A-97A6-71DB9A6B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90BF47-41B1-3F57-5D29-7B14A2BFF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435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0B2DFF-8AB9-3D2A-B86C-B07CE3D8C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5DBD443-EF8B-2872-27C0-A4A53C4DA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22C971A-F9C3-0475-0D02-A53DB33A4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F71505-B71F-5D1C-A462-A9ED830B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08742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DDECF7D-5C9A-1F87-43B6-CC8A69D44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02B959-2254-6745-686F-08D980EA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438B17-E594-68E4-1FBD-C36F620AC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9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A7E49D-0DBB-70A2-BE67-D9CE6C3CC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3A2C5A-E110-435B-1A98-20A2ED31F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B725694-CEEB-A23A-95D8-E19D72CB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7120E6-2E5E-858B-C359-158AAFFBF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1671A01-81BF-3C26-01AB-369D4EFC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BA82E97-1C69-51B3-879C-8B620BEE3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593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4B903-2C78-65C7-2AE8-10C5391EC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BEBD0C8-5C0C-1C85-B778-F5BC3ADB2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71D4576-194D-0BED-0EC1-31533D6EE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CBA171F-808F-D97D-17F9-4C2F4306B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261B-D210-DBFB-1E96-6734DD91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A1D5CC-89EE-FB70-E5E3-2AB6C7FA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90419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C3954-E08D-C0C4-34A4-3B9FB1C96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61C27CB-8597-B94D-6127-97F60CB2A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5BEC8A-5FFB-60D1-2431-B9EEF685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B54D46-FFC7-5C20-9572-D1D683C2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333834-539C-DA82-D7F0-49058031E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259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F80F9AD-9429-4C8A-D0A5-AC697D8BA0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6E03D4-5500-A84F-94E1-6881B6D17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9E2D71-B8F9-90F9-30EB-9A37D7CAC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5DE177-6D04-D67C-70D7-66FF81A59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1985F8-DDAB-EDD0-AD88-2B10286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34307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E38C7D-9C94-A11F-4198-9C0EFADA7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1C6842-A6F1-C6D5-A521-2F55AA14B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70EAE8-94DE-9698-372C-A87C57F8E6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F8A5A3-2011-9F99-5AE3-485EAEEC41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F4D51C-BFB7-3D36-8F5D-510A333BF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23636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royecto-calculo-optimizacion-cloud.vercel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EAD0EB-48AF-2D94-2566-EBDA8798BE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Calibri"/>
              </a:rPr>
              <a:t>Minimización del costo de alojamiento en la nube</a:t>
            </a:r>
            <a:endParaRPr lang="es-CL" dirty="0"/>
          </a:p>
        </p:txBody>
      </p:sp>
      <p:sp>
        <p:nvSpPr>
          <p:cNvPr id="3" name="TextBox 2"/>
          <p:cNvSpPr txBox="1"/>
          <p:nvPr/>
        </p:nvSpPr>
        <p:spPr>
          <a:xfrm>
            <a:off x="1524000" y="3609963"/>
            <a:ext cx="914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555555"/>
                </a:solidFill>
                <a:latin typeface="Calibri"/>
              </a:rPr>
              <a:t>Andrés Carrasco Valdés</a:t>
            </a:r>
          </a:p>
          <a:p>
            <a:pPr algn="ctr"/>
            <a:r>
              <a:rPr sz="2000">
                <a:solidFill>
                  <a:srgbClr val="555555"/>
                </a:solidFill>
                <a:latin typeface="Calibri"/>
              </a:rPr>
              <a:t>Profesor: Carlos Castro Maldonado</a:t>
            </a:r>
          </a:p>
          <a:p>
            <a:pPr algn="ctr"/>
            <a:r>
              <a:rPr sz="2000">
                <a:solidFill>
                  <a:srgbClr val="555555"/>
                </a:solidFill>
                <a:latin typeface="Calibri"/>
              </a:rPr>
              <a:t>Asignatura: Cálculo Diferencial</a:t>
            </a:r>
          </a:p>
          <a:p>
            <a:pPr algn="ctr"/>
            <a:r>
              <a:rPr sz="2000">
                <a:solidFill>
                  <a:srgbClr val="555555"/>
                </a:solidFill>
                <a:latin typeface="Calibri"/>
              </a:rPr>
              <a:t>Carrera: Ingeniería en Informática</a:t>
            </a:r>
          </a:p>
        </p:txBody>
      </p:sp>
    </p:spTree>
    <p:extLst>
      <p:ext uri="{BB962C8B-B14F-4D97-AF65-F5344CB8AC3E}">
        <p14:creationId xmlns:p14="http://schemas.microsoft.com/office/powerpoint/2010/main" val="993605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19140-C4B6-4426-7B0B-A9112C97E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Definición del proyecto</a:t>
            </a:r>
            <a:endParaRPr lang="es-CL" dirty="0"/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Proyecto de Aprendizaje Basado en Proyectos (ABPro) que aplica la derivada a un problema real de ingeniería de software.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Consiste en modelar el costo mensual de alojamiento en la nube en función del número de instancias contratadas.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Mediante la derivada de esa función se determina el punto exacto donde el costo es mínimo.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El resultado se comunica a través de un sitio web con un simulador interactivo.</a:t>
            </a:r>
          </a:p>
        </p:txBody>
      </p:sp>
    </p:spTree>
    <p:extLst>
      <p:ext uri="{BB962C8B-B14F-4D97-AF65-F5344CB8AC3E}">
        <p14:creationId xmlns:p14="http://schemas.microsoft.com/office/powerpoint/2010/main" val="367334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B8513-76B1-3793-002B-328B06334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Tema, nociones matemáticas y problemática</a:t>
            </a:r>
            <a:endParaRPr lang="es-CL" dirty="0"/>
          </a:p>
          <a:p>
            <a:r>
              <a:rPr sz="1800" b="1">
                <a:solidFill>
                  <a:srgbClr val="222222"/>
                </a:solidFill>
                <a:latin typeface="Calibri"/>
              </a:rPr>
              <a:t>Tema: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Optimización de costos de infraestructura cloud mediante cálculo diferencial.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22222"/>
                </a:solidFill>
                <a:latin typeface="Calibri"/>
              </a:rPr>
              <a:t>Nociones matemáticas: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Funciones cuadráticas, derivada, puntos críticos y criterio de la segunda derivada.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22222"/>
                </a:solidFill>
                <a:latin typeface="Calibri"/>
              </a:rPr>
              <a:t>Problemática: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Sobredimensionar recursos implica pagar de más; subdimensionarlos afecta el rendimiento del servicio.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Pregunta central: ¿cómo determinar matemáticamente el número de instancias que minimiza el costo?</a:t>
            </a:r>
          </a:p>
        </p:txBody>
      </p:sp>
    </p:spTree>
    <p:extLst>
      <p:ext uri="{BB962C8B-B14F-4D97-AF65-F5344CB8AC3E}">
        <p14:creationId xmlns:p14="http://schemas.microsoft.com/office/powerpoint/2010/main" val="3527147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511957-82E8-115C-643E-E2F3E1D8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Objetivos y preguntas de investigación</a:t>
            </a:r>
            <a:endParaRPr lang="es-CL" dirty="0"/>
          </a:p>
          <a:p>
            <a:r>
              <a:rPr sz="1800" b="1">
                <a:solidFill>
                  <a:srgbClr val="222222"/>
                </a:solidFill>
                <a:latin typeface="Calibri"/>
              </a:rPr>
              <a:t>Objetivo general: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Modelar el costo de infraestructura cloud como función del número de instancias y aplicar la derivada para hallar el costo mínimo.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22222"/>
                </a:solidFill>
                <a:latin typeface="Calibri"/>
              </a:rPr>
              <a:t>Objetivos específicos: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Construir la función de costo C(x).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Calcular C'(x) e identificar sus puntos críticos.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Verificar el mínimo con el criterio de la segunda derivada.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Desarrollar un simulador interactivo que visualice C(x) y C'(x).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22222"/>
                </a:solidFill>
                <a:latin typeface="Calibri"/>
              </a:rPr>
              <a:t>Pregunta de investigación: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¿Cuál es el número óptimo de instancias que minimiza el costo mensual, y cómo se determina usando la derivada?</a:t>
            </a:r>
          </a:p>
        </p:txBody>
      </p:sp>
    </p:spTree>
    <p:extLst>
      <p:ext uri="{BB962C8B-B14F-4D97-AF65-F5344CB8AC3E}">
        <p14:creationId xmlns:p14="http://schemas.microsoft.com/office/powerpoint/2010/main" val="236523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Temas iniciales involucrados</a:t>
            </a:r>
            <a:endParaRPr lang="es-CL" dirty="0"/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Funciones polinomiales (función cuadrática de costo).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Límites y continuidad.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Reglas de derivación.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Puntos críticos y criterio de la primera y segunda derivada.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Optimización aplicada a problemas de ingeniería.</a:t>
            </a:r>
          </a:p>
        </p:txBody>
      </p:sp>
    </p:spTree>
    <p:extLst>
      <p:ext uri="{BB962C8B-B14F-4D97-AF65-F5344CB8AC3E}">
        <p14:creationId xmlns:p14="http://schemas.microsoft.com/office/powerpoint/2010/main" val="4177208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Cronograma y materiales a utilizar</a:t>
            </a:r>
            <a:endParaRPr lang="es-CL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38200" y="1790688"/>
          <a:ext cx="105156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14285">
                <a:tc>
                  <a:txBody>
                    <a:bodyPr/>
                    <a:lstStyle/>
                    <a:p>
                      <a:r>
                        <a:rPr b="1" sz="1300">
                          <a:latin typeface="Calibri"/>
                        </a:rPr>
                        <a:t>Tareas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latin typeface="Calibri"/>
                        </a:rPr>
                        <a:t>Productos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latin typeface="Calibri"/>
                        </a:rPr>
                        <a:t>Plazos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latin typeface="Calibri"/>
                        </a:rPr>
                        <a:t>Responsable(s)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latin typeface="Calibri"/>
                        </a:rPr>
                        <a:t>Insumos</a:t>
                      </a:r>
                    </a:p>
                  </a:txBody>
                  <a:tcPr/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Investigar problemática y definir 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Problemática y tema definidos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Semana 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Andrés Carrasco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Bibliografía de cálculo</a:t>
                      </a:r>
                    </a:p>
                  </a:txBody>
                  <a:tcPr/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Formular objetivos y modelo matemático inicial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Función de costo C(x) planteada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Semana 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Andrés Carrasco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Apuntes de cálculo</a:t>
                      </a:r>
                    </a:p>
                  </a:txBody>
                  <a:tcPr/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Aplicar la derivada y validar el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Punto crítico verificado con C''(x)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Semana 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Andrés Carrasco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Software de cálculo (GeoGebra/Python)</a:t>
                      </a:r>
                    </a:p>
                  </a:txBody>
                  <a:tcPr/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Diseñar y programar el simulador 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Sitio web + simulador interactivo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Semana 7-9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Andrés Carrasco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HTML/CSS/JS, Plotly.js, Vercel</a:t>
                      </a:r>
                    </a:p>
                  </a:txBody>
                  <a:tcPr/>
                </a:tc>
              </a:tr>
              <a:tr h="514285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Redactar resultados, conclusiones y bibliografía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Informe final y presentación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Semana 10-11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Andrés Carrasco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Procesador de texto, fuentes</a:t>
                      </a:r>
                    </a:p>
                  </a:txBody>
                  <a:tcPr/>
                </a:tc>
              </a:tr>
              <a:tr h="51429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Grabar video y preparar entrega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Video + PPT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Semana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Andrés Carrasco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>
                          <a:latin typeface="Calibri"/>
                        </a:rPr>
                        <a:t>Guion, grabadora de audio, ffmpeg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02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5E65635-1B2E-6ECE-15B8-2D978D4E3BEB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Justificación de herramientas tecnológicas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Se utilizó un simulador web interactivo (HTML, CSS, JavaScript y la librería Plotly.js) en lugar de solo cálculos manuales.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Permite visualizar en tiempo real la curva de costo C(x) y su derivada C'(x), y modificar parámetros del modelo.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Facilita comprender de forma visual el concepto de punto crítico y optimización, algo difícil de transmitir solo con álgebra.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El sitio se publicó en la nube (Vercel), reforzando la coherencia entre el tema del proyecto (costos cloud) y la herramienta usada para exponerlo.</a:t>
            </a:r>
          </a:p>
        </p:txBody>
      </p:sp>
    </p:spTree>
    <p:extLst>
      <p:ext uri="{BB962C8B-B14F-4D97-AF65-F5344CB8AC3E}">
        <p14:creationId xmlns:p14="http://schemas.microsoft.com/office/powerpoint/2010/main" val="1384212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2E6CB4C-836C-BB79-7511-1BBB4C5B4620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Marco teórico I: Funciones y modelo de costo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Una función cuadrática C(x) = a·x² + (b+c)·x + d permite representar el costo total en función de la cantidad de recursos (x).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El coeficiente a &gt; 0 refleja que, a partir de cierto punto, agregar más instancias aumenta el costo (sobreaprovisionamiento).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Referencias: Stewart, J. (2018). Cálculo: Trascendentes tempranas; Larson, R. y Edwards, B. (2018). Cálculo.</a:t>
            </a:r>
          </a:p>
        </p:txBody>
      </p:sp>
    </p:spTree>
    <p:extLst>
      <p:ext uri="{BB962C8B-B14F-4D97-AF65-F5344CB8AC3E}">
        <p14:creationId xmlns:p14="http://schemas.microsoft.com/office/powerpoint/2010/main" val="12898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20382CF0-AE6B-20C3-4FB0-0E1632E85769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Marco teórico II: Derivada y optimización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La derivada C'(x) representa la tasa de cambio del costo respecto al número de instancias (costo marginal).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Un punto crítico se obtiene resolviendo C'(x) = 0.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El criterio de la segunda derivada (C''(x) &gt; 0) confirma si ese punto corresponde a un mínimo.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Estos conceptos corresponden a las unidades de límites, derivadas y aplicaciones de la derivada del curso.</a:t>
            </a:r>
          </a:p>
        </p:txBody>
      </p:sp>
    </p:spTree>
    <p:extLst>
      <p:ext uri="{BB962C8B-B14F-4D97-AF65-F5344CB8AC3E}">
        <p14:creationId xmlns:p14="http://schemas.microsoft.com/office/powerpoint/2010/main" val="807508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DF89448-F5E9-FC23-B52E-86C5CEDF6F15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Marco teórico III: Cloud computing y costos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Los proveedores cloud (AWS, Azure, Vercel) cobran según los recursos utilizados (instancias, cómputo, almacenamiento).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Un mal dimensionamiento de recursos es un problema real de la industria: sobrecostos o baja disponibilidad del servicio.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Fuentes: documentación de precios de AWS y Azure, y buenas prácticas de "cost optimization" en la nube.</a:t>
            </a:r>
          </a:p>
        </p:txBody>
      </p:sp>
    </p:spTree>
    <p:extLst>
      <p:ext uri="{BB962C8B-B14F-4D97-AF65-F5344CB8AC3E}">
        <p14:creationId xmlns:p14="http://schemas.microsoft.com/office/powerpoint/2010/main" val="16372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600" b="1">
                <a:solidFill>
                  <a:srgbClr val="222222"/>
                </a:solidFill>
                <a:latin typeface="Calibri"/>
              </a:rPr>
              <a:t>Desarrollo, revisión de ideas y producto</a:t>
            </a:r>
            <a:endParaRPr lang="es-CL" dirty="0"/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Se evaluaron distintos modelos de costo (lineal y cuadrático), optando por un modelo cuadrático simplificado que resume infraestructura + operación.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Se derivó el modelo, se resolvió C'(x) = 0 y se verificó el mínimo con la segunda derivada.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Se decidió comunicar el resultado mediante un producto tecnológico -un sitio web con simulador interactivo- en vez de solo un informe estático.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El simulador permite ingresar distintos parámetros (a, b+c, d) y observar cómo cambia el punto óptimo.</a:t>
            </a:r>
          </a:p>
        </p:txBody>
      </p:sp>
    </p:spTree>
    <p:extLst>
      <p:ext uri="{BB962C8B-B14F-4D97-AF65-F5344CB8AC3E}">
        <p14:creationId xmlns:p14="http://schemas.microsoft.com/office/powerpoint/2010/main" val="1709154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327484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31115"/>
            <a:r>
              <a:rPr sz="2400" b="1">
                <a:solidFill>
                  <a:srgbClr val="222222"/>
                </a:solidFill>
                <a:latin typeface="Calibri"/>
              </a:rPr>
              <a:t>Presentación de producto o prototipo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58957" y="1900567"/>
            <a:ext cx="532748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</a:rPr>
              <a:t>Sitio web del proyecto (incluye simulador interactivo): </a:t>
            </a:r>
            <a:r>
              <a:rPr sz="1400" b="1">
                <a:solidFill>
                  <a:srgbClr val="2263EB"/>
                </a:solidFill>
                <a:hlinkClick r:id="rId2"/>
              </a:rPr>
              <a:t>https://proyecto-calculo-optimizacion-cloud.vercel.app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8957" y="2550567"/>
            <a:ext cx="95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800" b="0">
                <a:solidFill>
                  <a:srgbClr val="222222"/>
                </a:solidFill>
                <a:latin typeface="Calibri"/>
              </a:rPr>
              <a:t>•  Producto: sitio web (HTML, CSS, JavaScript) con un simulador interactivo construido con Plotly.js.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Grafica en tiempo real la función de costo C(x) y su derivada C'(x), marcando el punto donde C'(x) = 0.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Publicado en la nube mediante Vercel, con despliegue continuo desde GitHub.</a:t>
            </a:r>
          </a:p>
        </p:txBody>
      </p:sp>
    </p:spTree>
    <p:extLst>
      <p:ext uri="{BB962C8B-B14F-4D97-AF65-F5344CB8AC3E}">
        <p14:creationId xmlns:p14="http://schemas.microsoft.com/office/powerpoint/2010/main" val="3202446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31115"/>
            <a:r>
              <a:rPr sz="2600" b="1">
                <a:solidFill>
                  <a:srgbClr val="222222"/>
                </a:solidFill>
                <a:latin typeface="Calibri"/>
              </a:rPr>
              <a:t>Resultados y conclusiones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sz="1800" b="1">
                <a:solidFill>
                  <a:srgbClr val="222222"/>
                </a:solidFill>
                <a:latin typeface="Calibri"/>
              </a:rPr>
              <a:t>Resultados: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Modelo: C(x) = 0.5x² − 20x + 500  ;  C'(x) = x − 20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Punto crítico: x = 20  ;  C''(x) = 1 &gt; 0 → mínimo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Costo mínimo: C(20) = 300 USD/mes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Comparación: 5 instancias → 412,5 USD ; 20 instancias (óptimo) → 300 USD ; 35 instancias → 412,5 USD (ahorro ≈ 27%)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222222"/>
                </a:solidFill>
                <a:latin typeface="Calibri"/>
              </a:rPr>
              <a:t>Conclusión:</a:t>
            </a:r>
          </a:p>
          <a:p>
            <a:r>
              <a:rPr sz="1800" b="0">
                <a:solidFill>
                  <a:srgbClr val="222222"/>
                </a:solidFill>
                <a:latin typeface="Calibri"/>
              </a:rPr>
              <a:t>•  La derivada permite tomar decisiones de arquitectura de software basadas en evidencia matemática, y no en estimaciones arbitrarias.</a:t>
            </a:r>
          </a:p>
        </p:txBody>
      </p:sp>
    </p:spTree>
    <p:extLst>
      <p:ext uri="{BB962C8B-B14F-4D97-AF65-F5344CB8AC3E}">
        <p14:creationId xmlns:p14="http://schemas.microsoft.com/office/powerpoint/2010/main" val="1807538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838200" y="365125"/>
            <a:ext cx="10515600" cy="6192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31115">
              <a:lnSpc>
                <a:spcPts val="1465"/>
              </a:lnSpc>
            </a:pPr>
            <a:r>
              <a:rPr sz="2600" b="1">
                <a:solidFill>
                  <a:srgbClr val="222222"/>
                </a:solidFill>
                <a:latin typeface="Calibri"/>
              </a:rPr>
              <a:t>Bibliografía y fuentes de información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sz="1600" b="0">
                <a:solidFill>
                  <a:srgbClr val="222222"/>
                </a:solidFill>
                <a:latin typeface="Calibri"/>
              </a:rPr>
              <a:t>•  Stewart, J. (2018). Cálculo de una variable: Trascendentes tempranas (8ª ed.). Cengage Learning.</a:t>
            </a:r>
          </a:p>
          <a:p>
            <a:r>
              <a:rPr sz="1600" b="0">
                <a:solidFill>
                  <a:srgbClr val="222222"/>
                </a:solidFill>
                <a:latin typeface="Calibri"/>
              </a:rPr>
              <a:t>•  Larson, R., &amp; Edwards, B. (2018). Cálculo (10ª ed.). McGraw-Hill.</a:t>
            </a:r>
          </a:p>
          <a:p>
            <a:r>
              <a:rPr sz="1600" b="0">
                <a:solidFill>
                  <a:srgbClr val="222222"/>
                </a:solidFill>
                <a:latin typeface="Calibri"/>
              </a:rPr>
              <a:t>•  Amazon Web Services. (2024). Cloud economics and pricing. https://aws.amazon.com/economics/</a:t>
            </a:r>
          </a:p>
          <a:p>
            <a:r>
              <a:rPr sz="1600" b="0">
                <a:solidFill>
                  <a:srgbClr val="222222"/>
                </a:solidFill>
                <a:latin typeface="Calibri"/>
              </a:rPr>
              <a:t>•  Microsoft Azure. (2024). Pricing calculator y documentación de cost management. https://azure.microsoft.com/pricing/</a:t>
            </a:r>
          </a:p>
          <a:p>
            <a:r>
              <a:rPr sz="1600" b="0">
                <a:solidFill>
                  <a:srgbClr val="222222"/>
                </a:solidFill>
                <a:latin typeface="Calibri"/>
              </a:rPr>
              <a:t>•  Vercel Inc. (2024). Vercel pricing documentation. https://vercel.com/pricing</a:t>
            </a:r>
          </a:p>
          <a:p>
            <a:r>
              <a:rPr sz="1600" b="0">
                <a:solidFill>
                  <a:srgbClr val="222222"/>
                </a:solidFill>
                <a:latin typeface="Calibri"/>
              </a:rPr>
              <a:t>•  Sitio del proyecto: https://proyecto-calculo-optimizacion-cloud.vercel.app</a:t>
            </a:r>
          </a:p>
        </p:txBody>
      </p:sp>
    </p:spTree>
    <p:extLst>
      <p:ext uri="{BB962C8B-B14F-4D97-AF65-F5344CB8AC3E}">
        <p14:creationId xmlns:p14="http://schemas.microsoft.com/office/powerpoint/2010/main" val="1817934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2A84260D04624A8B717A5811981AC4" ma:contentTypeVersion="16" ma:contentTypeDescription="Create a new document." ma:contentTypeScope="" ma:versionID="78ec2117f7e2a26e85b2e503ca3368cf">
  <xsd:schema xmlns:xsd="http://www.w3.org/2001/XMLSchema" xmlns:xs="http://www.w3.org/2001/XMLSchema" xmlns:p="http://schemas.microsoft.com/office/2006/metadata/properties" xmlns:ns3="044690ba-3bcd-4bf0-9bed-6c935b699a1b" xmlns:ns4="e18e1d99-ad59-48f1-b4b7-e09c670c4281" targetNamespace="http://schemas.microsoft.com/office/2006/metadata/properties" ma:root="true" ma:fieldsID="bd91240d1f551a398bc54852b2baaade" ns3:_="" ns4:_="">
    <xsd:import namespace="044690ba-3bcd-4bf0-9bed-6c935b699a1b"/>
    <xsd:import namespace="e18e1d99-ad59-48f1-b4b7-e09c670c428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AutoKeyPoints" minOccurs="0"/>
                <xsd:element ref="ns4:MediaServiceKeyPoints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CR" minOccurs="0"/>
                <xsd:element ref="ns4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4690ba-3bcd-4bf0-9bed-6c935b699a1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8e1d99-ad59-48f1-b4b7-e09c670c428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8e1d99-ad59-48f1-b4b7-e09c670c4281" xsi:nil="true"/>
  </documentManagement>
</p:properties>
</file>

<file path=customXml/itemProps1.xml><?xml version="1.0" encoding="utf-8"?>
<ds:datastoreItem xmlns:ds="http://schemas.openxmlformats.org/officeDocument/2006/customXml" ds:itemID="{CAA8A3B3-4AE0-4A4B-B7C7-6305818128C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4690ba-3bcd-4bf0-9bed-6c935b699a1b"/>
    <ds:schemaRef ds:uri="e18e1d99-ad59-48f1-b4b7-e09c670c428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CD2E0C6-02D9-4725-AA2D-08585DAEFE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3AC9BC-3A48-41FB-89C8-97DFFCFF99CC}">
  <ds:schemaRefs>
    <ds:schemaRef ds:uri="http://www.w3.org/XML/1998/namespace"/>
    <ds:schemaRef ds:uri="e18e1d99-ad59-48f1-b4b7-e09c670c4281"/>
    <ds:schemaRef ds:uri="http://schemas.microsoft.com/office/2006/documentManagement/types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044690ba-3bcd-4bf0-9bed-6c935b699a1b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195</Words>
  <Application>Microsoft Office PowerPoint</Application>
  <PresentationFormat>Panorámica</PresentationFormat>
  <Paragraphs>14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Diapositiva 1: Nombre del proyecto, integrantes, profesor, asignatura y carrera </vt:lpstr>
      <vt:lpstr>Diapositiva 2: Definición del proyecto</vt:lpstr>
      <vt:lpstr>Diapositiva 3: Tema de investigación, nociones matemáticas y problemática a abordar </vt:lpstr>
      <vt:lpstr>Diapositiva 4: Objetivos y preguntas de investigación  </vt:lpstr>
      <vt:lpstr>Diapositiva 5: Temas iniciales involucrados</vt:lpstr>
      <vt:lpstr>Diapositiva 6: Cronograma y materiales a utilizar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1: Nombre del proyecto, integrantes, profesor, asignatura y carrera</dc:title>
  <dc:creator>Carlos Castro Maldonado</dc:creator>
  <cp:lastModifiedBy>CARLOS ENRIQUE CASTRO MALDONADO</cp:lastModifiedBy>
  <cp:revision>13</cp:revision>
  <dcterms:created xsi:type="dcterms:W3CDTF">2023-08-31T16:26:40Z</dcterms:created>
  <dcterms:modified xsi:type="dcterms:W3CDTF">2023-12-06T14:39:38Z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0x0101003A2A84260D04624A8B717A5811981AC4</vt:lpwstr>
  </property>
</Properties>
</file>