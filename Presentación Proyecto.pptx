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0" autoAdjust="0"/>
    <p:restoredTop sz="94660"/>
  </p:normalViewPr>
  <p:slideViewPr>
    <p:cSldViewPr snapToGrid="0">
      <p:cViewPr varScale="1">
        <p:scale>
          <a:sx n="159" d="100"/>
          <a:sy n="159" d="100"/>
        </p:scale>
        <p:origin x="62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F68F1-5789-0ECF-2228-762F7929BA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9F625571-00D0-6AC1-8B42-562316DFF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1C57596A-E593-E81F-7195-70DDDE8EE626}"/>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5" name="Marcador de pie de página 4">
            <a:extLst>
              <a:ext uri="{FF2B5EF4-FFF2-40B4-BE49-F238E27FC236}">
                <a16:creationId xmlns:a16="http://schemas.microsoft.com/office/drawing/2014/main" id="{C31BCEAF-C0C8-75F5-5521-CD5B08A701B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E11205-EF09-9AD3-3E15-9B757A4FF21A}"/>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092451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E5B8F-2D58-D34C-1091-4E1CBEDAF83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66D7AA4-981F-F582-F378-D743516D78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7000C03-39D4-A2C1-BD93-3A1E279120D2}"/>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5" name="Marcador de pie de página 4">
            <a:extLst>
              <a:ext uri="{FF2B5EF4-FFF2-40B4-BE49-F238E27FC236}">
                <a16:creationId xmlns:a16="http://schemas.microsoft.com/office/drawing/2014/main" id="{964F9671-21B7-17F0-FC23-ADE509DFEE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1E0935F-FF89-36CD-131D-D440D6627B31}"/>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8315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E1DD6-BE00-7CBF-BF08-3B35D9718D7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5AA5CA-A763-4F15-2202-869EE8AF8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22A214-9166-73BE-D0F3-12B89A590405}"/>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5" name="Marcador de pie de página 4">
            <a:extLst>
              <a:ext uri="{FF2B5EF4-FFF2-40B4-BE49-F238E27FC236}">
                <a16:creationId xmlns:a16="http://schemas.microsoft.com/office/drawing/2014/main" id="{9F03B563-AB34-43A9-6B4F-C80C1B07E37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64DE63D-CB13-3A81-666E-506109513187}"/>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2639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552209-42A8-0B53-6776-20E94A50CC4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5C78AD3-DCAB-EB3E-F89F-57C90D8EBD2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8FC2F3B6-7EEC-1791-4E70-52ABC93311C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2485B31-E532-A354-1481-02642F6BE3AB}"/>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6" name="Marcador de pie de página 5">
            <a:extLst>
              <a:ext uri="{FF2B5EF4-FFF2-40B4-BE49-F238E27FC236}">
                <a16:creationId xmlns:a16="http://schemas.microsoft.com/office/drawing/2014/main" id="{596FACBB-DF25-3A13-89FA-D4B28EA8910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D7FE31F-4630-7E0F-F0F4-F8D62D4DB632}"/>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3162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E4A17-6BC9-21D5-4100-F35DA86A28A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902C5A0-B809-047E-E80C-6540A4561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1B3F56-FA2A-3804-3945-6564EF6555D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0D7DD76B-B222-8C35-F2D3-3598BE5023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B7AC7C8-7FAB-1DF4-2BDD-DB189D5A7A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E0B53DE-1FD9-CD30-73B4-ED733AADD4DF}"/>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8" name="Marcador de pie de página 7">
            <a:extLst>
              <a:ext uri="{FF2B5EF4-FFF2-40B4-BE49-F238E27FC236}">
                <a16:creationId xmlns:a16="http://schemas.microsoft.com/office/drawing/2014/main" id="{17628CF2-3C91-D86A-97A6-71DB9A6B7A2C}"/>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290BF47-41B1-3F57-5D29-7B14A2BFF2C6}"/>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14354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B2DFF-8AB9-3D2A-B86C-B07CE3D8C93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15DBD443-EF8B-2872-27C0-A4A53C4DA0B1}"/>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4" name="Marcador de pie de página 3">
            <a:extLst>
              <a:ext uri="{FF2B5EF4-FFF2-40B4-BE49-F238E27FC236}">
                <a16:creationId xmlns:a16="http://schemas.microsoft.com/office/drawing/2014/main" id="{822C971A-F9C3-0475-0D02-A53DB33A467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C0F71505-B71F-5D1C-A462-A9ED830B5F37}"/>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0874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DDECF7D-5C9A-1F87-43B6-CC8A69D44555}"/>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3" name="Marcador de pie de página 2">
            <a:extLst>
              <a:ext uri="{FF2B5EF4-FFF2-40B4-BE49-F238E27FC236}">
                <a16:creationId xmlns:a16="http://schemas.microsoft.com/office/drawing/2014/main" id="{1C02B959-2254-6745-686F-08D980EABE9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A438B17-E594-68E4-1FBD-C36F620AC100}"/>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45952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7E49D-0DBB-70A2-BE67-D9CE6C3CCE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3A2C5A-E110-435B-1A98-20A2ED31F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2B725694-CEEB-A23A-95D8-E19D72CBA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7120E6-2E5E-858B-C359-158AAFFBF47A}"/>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6" name="Marcador de pie de página 5">
            <a:extLst>
              <a:ext uri="{FF2B5EF4-FFF2-40B4-BE49-F238E27FC236}">
                <a16:creationId xmlns:a16="http://schemas.microsoft.com/office/drawing/2014/main" id="{81671A01-81BF-3C26-01AB-369D4EFC44C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BA82E97-1C69-51B3-879C-8B620BEE3C8D}"/>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15932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4B903-2C78-65C7-2AE8-10C5391EC2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BEBD0C8-5C0C-1C85-B778-F5BC3ADB2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671D4576-194D-0BED-0EC1-31533D6EE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CBA171F-808F-D97D-17F9-4C2F4306B575}"/>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6" name="Marcador de pie de página 5">
            <a:extLst>
              <a:ext uri="{FF2B5EF4-FFF2-40B4-BE49-F238E27FC236}">
                <a16:creationId xmlns:a16="http://schemas.microsoft.com/office/drawing/2014/main" id="{1DF2261B-D210-DBFB-1E96-6734DD91963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BA1D5CC-89EE-FB70-E5E3-2AB6C7FAD9BC}"/>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9041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1C3954-E08D-C0C4-34A4-3B9FB1C96BE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61C27CB-8597-B94D-6127-97F60CB2AE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75BEC8A-5FFB-60D1-2431-B9EEF685C3B6}"/>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5" name="Marcador de pie de página 4">
            <a:extLst>
              <a:ext uri="{FF2B5EF4-FFF2-40B4-BE49-F238E27FC236}">
                <a16:creationId xmlns:a16="http://schemas.microsoft.com/office/drawing/2014/main" id="{6CB54D46-FFC7-5C20-9572-D1D683C28F7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2333834-539C-DA82-D7F0-49058031E796}"/>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8125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F80F9AD-9429-4C8A-D0A5-AC697D8BA06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16E03D4-5500-A84F-94E1-6881B6D17E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A9E2D71-B8F9-90F9-30EB-9A37D7CAC7D8}"/>
              </a:ext>
            </a:extLst>
          </p:cNvPr>
          <p:cNvSpPr>
            <a:spLocks noGrp="1"/>
          </p:cNvSpPr>
          <p:nvPr>
            <p:ph type="dt" sz="half" idx="10"/>
          </p:nvPr>
        </p:nvSpPr>
        <p:spPr/>
        <p:txBody>
          <a:bodyPr/>
          <a:lstStyle/>
          <a:p>
            <a:fld id="{3D145F0F-ABEA-49D3-ADF5-B61D2DA89C31}" type="datetimeFigureOut">
              <a:rPr lang="es-CL" smtClean="0"/>
              <a:t>19-07-26</a:t>
            </a:fld>
            <a:endParaRPr lang="es-CL"/>
          </a:p>
        </p:txBody>
      </p:sp>
      <p:sp>
        <p:nvSpPr>
          <p:cNvPr id="5" name="Marcador de pie de página 4">
            <a:extLst>
              <a:ext uri="{FF2B5EF4-FFF2-40B4-BE49-F238E27FC236}">
                <a16:creationId xmlns:a16="http://schemas.microsoft.com/office/drawing/2014/main" id="{245DE177-6D04-D67C-70D7-66FF81A5977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81985F8-DDAB-EDD0-AD88-2B10286F98EB}"/>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343072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4E38C7D-9C94-A11F-4198-9C0EFADA7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71C6842-A6F1-C6D5-A521-2F55AA14BC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F70EAE8-94DE-9698-372C-A87C57F8E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45F0F-ABEA-49D3-ADF5-B61D2DA89C31}" type="datetimeFigureOut">
              <a:rPr lang="es-CL" smtClean="0"/>
              <a:t>19-07-26</a:t>
            </a:fld>
            <a:endParaRPr lang="es-CL"/>
          </a:p>
        </p:txBody>
      </p:sp>
      <p:sp>
        <p:nvSpPr>
          <p:cNvPr id="5" name="Marcador de pie de página 4">
            <a:extLst>
              <a:ext uri="{FF2B5EF4-FFF2-40B4-BE49-F238E27FC236}">
                <a16:creationId xmlns:a16="http://schemas.microsoft.com/office/drawing/2014/main" id="{00F8A5A3-2011-9F99-5AE3-485EAEEC4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CBF4D51C-BFB7-3D36-8F5D-510A333BF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82363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royecto-calculo-optimizacion-cloud.vercel.ap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ctrTitle"/>
          </p:nvPr>
        </p:nvSpPr>
        <p:spPr/>
        <p:txBody>
          <a:bodyPr wrap="square">
            <a:noAutofit/>
          </a:bodyPr>
          <a:lstStyle/>
          <a:p>
            <a:pPr algn="ctr">
              <a:spcAft>
                <a:spcPts val="1400"/>
              </a:spcAft>
              <a:buNone/>
            </a:pPr>
            <a:r>
              <a:rPr sz="3400" b="1">
                <a:solidFill>
                  <a:srgbClr val="22D3EE"/>
                </a:solidFill>
                <a:latin typeface="Calibri"/>
              </a:rPr>
              <a:t>Minimización del costo de alojamiento en la nube</a:t>
            </a:r>
            <a:endParaRPr lang="es-CL" dirty="0"/>
          </a:p>
        </p:txBody>
      </p:sp>
      <p:sp>
        <p:nvSpPr>
          <p:cNvPr id="3" name="TextBox 2"/>
          <p:cNvSpPr txBox="1"/>
          <p:nvPr/>
        </p:nvSpPr>
        <p:spPr>
          <a:xfrm>
            <a:off x="1524000" y="3609963"/>
            <a:ext cx="9144000" cy="1800000"/>
          </a:xfrm>
          <a:prstGeom prst="rect">
            <a:avLst/>
          </a:prstGeom>
          <a:noFill/>
        </p:spPr>
        <p:txBody>
          <a:bodyPr wrap="square">
            <a:spAutoFit/>
          </a:bodyPr>
          <a:lstStyle/>
          <a:p>
            <a:pPr algn="ctr">
              <a:spcAft>
                <a:spcPts val="400"/>
              </a:spcAft>
              <a:buNone/>
            </a:pPr>
            <a:r>
              <a:rPr sz="2000">
                <a:solidFill>
                  <a:srgbClr val="94A3B8"/>
                </a:solidFill>
                <a:latin typeface="Calibri"/>
              </a:rPr>
              <a:t>Andrés Carrasco Valdés</a:t>
            </a:r>
          </a:p>
          <a:p>
            <a:pPr algn="ctr">
              <a:spcAft>
                <a:spcPts val="400"/>
              </a:spcAft>
              <a:buNone/>
            </a:pPr>
            <a:r>
              <a:rPr sz="2000">
                <a:solidFill>
                  <a:srgbClr val="94A3B8"/>
                </a:solidFill>
                <a:latin typeface="Calibri"/>
              </a:rPr>
              <a:t>Profesor: Carlos Castro Maldonado</a:t>
            </a:r>
          </a:p>
          <a:p>
            <a:pPr algn="ctr">
              <a:spcAft>
                <a:spcPts val="400"/>
              </a:spcAft>
              <a:buNone/>
            </a:pPr>
            <a:r>
              <a:rPr sz="2000">
                <a:solidFill>
                  <a:srgbClr val="94A3B8"/>
                </a:solidFill>
                <a:latin typeface="Calibri"/>
              </a:rPr>
              <a:t>Asignatura: Cálculo Diferencial</a:t>
            </a:r>
          </a:p>
          <a:p>
            <a:pPr algn="ctr">
              <a:spcAft>
                <a:spcPts val="400"/>
              </a:spcAft>
              <a:buNone/>
            </a:pPr>
            <a:r>
              <a:rPr sz="2000">
                <a:solidFill>
                  <a:srgbClr val="94A3B8"/>
                </a:solidFill>
                <a:latin typeface="Calibri"/>
              </a:rPr>
              <a:t>Carrera: Ingeniería en Informática</a:t>
            </a:r>
          </a:p>
        </p:txBody>
      </p:sp>
      <p:sp>
        <p:nvSpPr>
          <p:cNvPr id="4" name="Rectangle 3"/>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838200" y="365125"/>
            <a:ext cx="10515600" cy="1325563"/>
          </a:xfrm>
        </p:spPr>
        <p:txBody>
          <a:bodyPr wrap="square">
            <a:noAutofit/>
          </a:bodyPr>
          <a:lstStyle/>
          <a:p>
            <a:pPr>
              <a:spcAft>
                <a:spcPts val="1400"/>
              </a:spcAft>
              <a:buNone/>
            </a:pPr>
            <a:br>
              <a:rPr lang="es-419"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r>
              <a:rPr sz="2600" b="1" dirty="0" err="1">
                <a:solidFill>
                  <a:srgbClr val="22D3EE"/>
                </a:solidFill>
                <a:latin typeface="Calibri"/>
              </a:rPr>
              <a:t>Definición</a:t>
            </a:r>
            <a:r>
              <a:rPr sz="2600" b="1" dirty="0">
                <a:solidFill>
                  <a:srgbClr val="22D3EE"/>
                </a:solidFill>
                <a:latin typeface="Calibri"/>
              </a:rPr>
              <a:t> del </a:t>
            </a:r>
            <a:r>
              <a:rPr sz="2600" b="1" dirty="0" err="1">
                <a:solidFill>
                  <a:srgbClr val="22D3EE"/>
                </a:solidFill>
                <a:latin typeface="Calibri"/>
              </a:rPr>
              <a:t>proyecto</a:t>
            </a:r>
            <a:endParaRPr lang="es-CL" dirty="0"/>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Proyecto de </a:t>
            </a:r>
            <a:r>
              <a:rPr sz="1800" dirty="0" err="1">
                <a:solidFill>
                  <a:srgbClr val="E6EBF5"/>
                </a:solidFill>
                <a:latin typeface="Calibri"/>
              </a:rPr>
              <a:t>Aprendizaje</a:t>
            </a:r>
            <a:r>
              <a:rPr sz="1800" dirty="0">
                <a:solidFill>
                  <a:srgbClr val="E6EBF5"/>
                </a:solidFill>
                <a:latin typeface="Calibri"/>
              </a:rPr>
              <a:t> </a:t>
            </a:r>
            <a:r>
              <a:rPr sz="1800" dirty="0" err="1">
                <a:solidFill>
                  <a:srgbClr val="E6EBF5"/>
                </a:solidFill>
                <a:latin typeface="Calibri"/>
              </a:rPr>
              <a:t>Basado</a:t>
            </a:r>
            <a:r>
              <a:rPr sz="1800" dirty="0">
                <a:solidFill>
                  <a:srgbClr val="E6EBF5"/>
                </a:solidFill>
                <a:latin typeface="Calibri"/>
              </a:rPr>
              <a:t> en </a:t>
            </a:r>
            <a:r>
              <a:rPr sz="1800" dirty="0" err="1">
                <a:solidFill>
                  <a:srgbClr val="E6EBF5"/>
                </a:solidFill>
                <a:latin typeface="Calibri"/>
              </a:rPr>
              <a:t>Proyectos</a:t>
            </a:r>
            <a:r>
              <a:rPr sz="1800" dirty="0">
                <a:solidFill>
                  <a:srgbClr val="E6EBF5"/>
                </a:solidFill>
                <a:latin typeface="Calibri"/>
              </a:rPr>
              <a:t> (</a:t>
            </a:r>
            <a:r>
              <a:rPr sz="1800" dirty="0" err="1">
                <a:solidFill>
                  <a:srgbClr val="E6EBF5"/>
                </a:solidFill>
                <a:latin typeface="Calibri"/>
              </a:rPr>
              <a:t>ABPro</a:t>
            </a:r>
            <a:r>
              <a:rPr sz="1800" dirty="0">
                <a:solidFill>
                  <a:srgbClr val="E6EBF5"/>
                </a:solidFill>
                <a:latin typeface="Calibri"/>
              </a:rPr>
              <a:t>) </a:t>
            </a:r>
            <a:r>
              <a:rPr sz="1800" dirty="0" err="1">
                <a:solidFill>
                  <a:srgbClr val="E6EBF5"/>
                </a:solidFill>
                <a:latin typeface="Calibri"/>
              </a:rPr>
              <a:t>que</a:t>
            </a:r>
            <a:r>
              <a:rPr sz="1800" dirty="0">
                <a:solidFill>
                  <a:srgbClr val="E6EBF5"/>
                </a:solidFill>
                <a:latin typeface="Calibri"/>
              </a:rPr>
              <a:t> </a:t>
            </a:r>
            <a:r>
              <a:rPr sz="1800" dirty="0" err="1">
                <a:solidFill>
                  <a:srgbClr val="E6EBF5"/>
                </a:solidFill>
                <a:latin typeface="Calibri"/>
              </a:rPr>
              <a:t>aplica</a:t>
            </a:r>
            <a:r>
              <a:rPr sz="1800" dirty="0">
                <a:solidFill>
                  <a:srgbClr val="E6EBF5"/>
                </a:solidFill>
                <a:latin typeface="Calibri"/>
              </a:rPr>
              <a:t> la </a:t>
            </a:r>
            <a:r>
              <a:rPr sz="1800" dirty="0" err="1">
                <a:solidFill>
                  <a:srgbClr val="E6EBF5"/>
                </a:solidFill>
                <a:latin typeface="Calibri"/>
              </a:rPr>
              <a:t>derivada</a:t>
            </a:r>
            <a:r>
              <a:rPr sz="1800" dirty="0">
                <a:solidFill>
                  <a:srgbClr val="E6EBF5"/>
                </a:solidFill>
                <a:latin typeface="Calibri"/>
              </a:rPr>
              <a:t> a un </a:t>
            </a:r>
            <a:r>
              <a:rPr sz="1800" dirty="0" err="1">
                <a:solidFill>
                  <a:srgbClr val="E6EBF5"/>
                </a:solidFill>
                <a:latin typeface="Calibri"/>
              </a:rPr>
              <a:t>problema</a:t>
            </a:r>
            <a:r>
              <a:rPr sz="1800" dirty="0">
                <a:solidFill>
                  <a:srgbClr val="E6EBF5"/>
                </a:solidFill>
                <a:latin typeface="Calibri"/>
              </a:rPr>
              <a:t> real de </a:t>
            </a:r>
            <a:r>
              <a:rPr sz="1800" dirty="0" err="1">
                <a:solidFill>
                  <a:srgbClr val="E6EBF5"/>
                </a:solidFill>
                <a:latin typeface="Calibri"/>
              </a:rPr>
              <a:t>ingeniería</a:t>
            </a:r>
            <a:r>
              <a:rPr sz="1800" dirty="0">
                <a:solidFill>
                  <a:srgbClr val="E6EBF5"/>
                </a:solidFill>
                <a:latin typeface="Calibri"/>
              </a:rPr>
              <a:t> de software.</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Consiste</a:t>
            </a:r>
            <a:r>
              <a:rPr sz="1800" dirty="0">
                <a:solidFill>
                  <a:srgbClr val="E6EBF5"/>
                </a:solidFill>
                <a:latin typeface="Calibri"/>
              </a:rPr>
              <a:t> en </a:t>
            </a:r>
            <a:r>
              <a:rPr sz="1800" dirty="0" err="1">
                <a:solidFill>
                  <a:srgbClr val="E6EBF5"/>
                </a:solidFill>
                <a:latin typeface="Calibri"/>
              </a:rPr>
              <a:t>modelar</a:t>
            </a:r>
            <a:r>
              <a:rPr sz="1800" dirty="0">
                <a:solidFill>
                  <a:srgbClr val="E6EBF5"/>
                </a:solidFill>
                <a:latin typeface="Calibri"/>
              </a:rPr>
              <a:t> el </a:t>
            </a:r>
            <a:r>
              <a:rPr sz="1800" dirty="0" err="1">
                <a:solidFill>
                  <a:srgbClr val="E6EBF5"/>
                </a:solidFill>
                <a:latin typeface="Calibri"/>
              </a:rPr>
              <a:t>costo</a:t>
            </a:r>
            <a:r>
              <a:rPr sz="1800" dirty="0">
                <a:solidFill>
                  <a:srgbClr val="E6EBF5"/>
                </a:solidFill>
                <a:latin typeface="Calibri"/>
              </a:rPr>
              <a:t> </a:t>
            </a:r>
            <a:r>
              <a:rPr sz="1800" dirty="0" err="1">
                <a:solidFill>
                  <a:srgbClr val="E6EBF5"/>
                </a:solidFill>
                <a:latin typeface="Calibri"/>
              </a:rPr>
              <a:t>mensual</a:t>
            </a:r>
            <a:r>
              <a:rPr sz="1800" dirty="0">
                <a:solidFill>
                  <a:srgbClr val="E6EBF5"/>
                </a:solidFill>
                <a:latin typeface="Calibri"/>
              </a:rPr>
              <a:t> de </a:t>
            </a:r>
            <a:r>
              <a:rPr sz="1800" dirty="0" err="1">
                <a:solidFill>
                  <a:srgbClr val="E6EBF5"/>
                </a:solidFill>
                <a:latin typeface="Calibri"/>
              </a:rPr>
              <a:t>alojamiento</a:t>
            </a:r>
            <a:r>
              <a:rPr sz="1800" dirty="0">
                <a:solidFill>
                  <a:srgbClr val="E6EBF5"/>
                </a:solidFill>
                <a:latin typeface="Calibri"/>
              </a:rPr>
              <a:t> en la </a:t>
            </a:r>
            <a:r>
              <a:rPr sz="1800" dirty="0" err="1">
                <a:solidFill>
                  <a:srgbClr val="E6EBF5"/>
                </a:solidFill>
                <a:latin typeface="Calibri"/>
              </a:rPr>
              <a:t>nube</a:t>
            </a:r>
            <a:r>
              <a:rPr sz="1800" dirty="0">
                <a:solidFill>
                  <a:srgbClr val="E6EBF5"/>
                </a:solidFill>
                <a:latin typeface="Calibri"/>
              </a:rPr>
              <a:t> en </a:t>
            </a:r>
            <a:r>
              <a:rPr sz="1800" dirty="0" err="1">
                <a:solidFill>
                  <a:srgbClr val="E6EBF5"/>
                </a:solidFill>
                <a:latin typeface="Calibri"/>
              </a:rPr>
              <a:t>función</a:t>
            </a:r>
            <a:r>
              <a:rPr sz="1800" dirty="0">
                <a:solidFill>
                  <a:srgbClr val="E6EBF5"/>
                </a:solidFill>
                <a:latin typeface="Calibri"/>
              </a:rPr>
              <a:t> del </a:t>
            </a:r>
            <a:r>
              <a:rPr sz="1800" dirty="0" err="1">
                <a:solidFill>
                  <a:srgbClr val="E6EBF5"/>
                </a:solidFill>
                <a:latin typeface="Calibri"/>
              </a:rPr>
              <a:t>número</a:t>
            </a:r>
            <a:r>
              <a:rPr sz="1800" dirty="0">
                <a:solidFill>
                  <a:srgbClr val="E6EBF5"/>
                </a:solidFill>
                <a:latin typeface="Calibri"/>
              </a:rPr>
              <a:t> de </a:t>
            </a:r>
            <a:r>
              <a:rPr sz="1800" dirty="0" err="1">
                <a:solidFill>
                  <a:srgbClr val="E6EBF5"/>
                </a:solidFill>
                <a:latin typeface="Calibri"/>
              </a:rPr>
              <a:t>instancias</a:t>
            </a:r>
            <a:r>
              <a:rPr sz="1800" dirty="0">
                <a:solidFill>
                  <a:srgbClr val="E6EBF5"/>
                </a:solidFill>
                <a:latin typeface="Calibri"/>
              </a:rPr>
              <a:t> </a:t>
            </a:r>
            <a:r>
              <a:rPr sz="1800" dirty="0" err="1">
                <a:solidFill>
                  <a:srgbClr val="E6EBF5"/>
                </a:solidFill>
                <a:latin typeface="Calibri"/>
              </a:rPr>
              <a:t>contratadas</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Mediante la </a:t>
            </a:r>
            <a:r>
              <a:rPr sz="1800" dirty="0" err="1">
                <a:solidFill>
                  <a:srgbClr val="E6EBF5"/>
                </a:solidFill>
                <a:latin typeface="Calibri"/>
              </a:rPr>
              <a:t>derivada</a:t>
            </a:r>
            <a:r>
              <a:rPr sz="1800" dirty="0">
                <a:solidFill>
                  <a:srgbClr val="E6EBF5"/>
                </a:solidFill>
                <a:latin typeface="Calibri"/>
              </a:rPr>
              <a:t> de </a:t>
            </a:r>
            <a:r>
              <a:rPr sz="1800" dirty="0" err="1">
                <a:solidFill>
                  <a:srgbClr val="E6EBF5"/>
                </a:solidFill>
                <a:latin typeface="Calibri"/>
              </a:rPr>
              <a:t>esa</a:t>
            </a:r>
            <a:r>
              <a:rPr sz="1800" dirty="0">
                <a:solidFill>
                  <a:srgbClr val="E6EBF5"/>
                </a:solidFill>
                <a:latin typeface="Calibri"/>
              </a:rPr>
              <a:t> </a:t>
            </a:r>
            <a:r>
              <a:rPr sz="1800" dirty="0" err="1">
                <a:solidFill>
                  <a:srgbClr val="E6EBF5"/>
                </a:solidFill>
                <a:latin typeface="Calibri"/>
              </a:rPr>
              <a:t>función</a:t>
            </a:r>
            <a:r>
              <a:rPr sz="1800" dirty="0">
                <a:solidFill>
                  <a:srgbClr val="E6EBF5"/>
                </a:solidFill>
                <a:latin typeface="Calibri"/>
              </a:rPr>
              <a:t> se </a:t>
            </a:r>
            <a:r>
              <a:rPr sz="1800" dirty="0" err="1">
                <a:solidFill>
                  <a:srgbClr val="E6EBF5"/>
                </a:solidFill>
                <a:latin typeface="Calibri"/>
              </a:rPr>
              <a:t>determina</a:t>
            </a:r>
            <a:r>
              <a:rPr sz="1800" dirty="0">
                <a:solidFill>
                  <a:srgbClr val="E6EBF5"/>
                </a:solidFill>
                <a:latin typeface="Calibri"/>
              </a:rPr>
              <a:t> el punto </a:t>
            </a:r>
            <a:r>
              <a:rPr sz="1800" dirty="0" err="1">
                <a:solidFill>
                  <a:srgbClr val="E6EBF5"/>
                </a:solidFill>
                <a:latin typeface="Calibri"/>
              </a:rPr>
              <a:t>exacto</a:t>
            </a:r>
            <a:r>
              <a:rPr sz="1800" dirty="0">
                <a:solidFill>
                  <a:srgbClr val="E6EBF5"/>
                </a:solidFill>
                <a:latin typeface="Calibri"/>
              </a:rPr>
              <a:t> </a:t>
            </a:r>
            <a:r>
              <a:rPr sz="1800" dirty="0" err="1">
                <a:solidFill>
                  <a:srgbClr val="E6EBF5"/>
                </a:solidFill>
                <a:latin typeface="Calibri"/>
              </a:rPr>
              <a:t>donde</a:t>
            </a:r>
            <a:r>
              <a:rPr sz="1800" dirty="0">
                <a:solidFill>
                  <a:srgbClr val="E6EBF5"/>
                </a:solidFill>
                <a:latin typeface="Calibri"/>
              </a:rPr>
              <a:t> el </a:t>
            </a:r>
            <a:r>
              <a:rPr sz="1800" dirty="0" err="1">
                <a:solidFill>
                  <a:srgbClr val="E6EBF5"/>
                </a:solidFill>
                <a:latin typeface="Calibri"/>
              </a:rPr>
              <a:t>costo</a:t>
            </a:r>
            <a:r>
              <a:rPr sz="1800" dirty="0">
                <a:solidFill>
                  <a:srgbClr val="E6EBF5"/>
                </a:solidFill>
                <a:latin typeface="Calibri"/>
              </a:rPr>
              <a:t> es </a:t>
            </a:r>
            <a:r>
              <a:rPr sz="1800" dirty="0" err="1">
                <a:solidFill>
                  <a:srgbClr val="E6EBF5"/>
                </a:solidFill>
                <a:latin typeface="Calibri"/>
              </a:rPr>
              <a:t>mínimo</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El </a:t>
            </a:r>
            <a:r>
              <a:rPr sz="1800" dirty="0" err="1">
                <a:solidFill>
                  <a:srgbClr val="E6EBF5"/>
                </a:solidFill>
                <a:latin typeface="Calibri"/>
              </a:rPr>
              <a:t>resultado</a:t>
            </a:r>
            <a:r>
              <a:rPr sz="1800" dirty="0">
                <a:solidFill>
                  <a:srgbClr val="E6EBF5"/>
                </a:solidFill>
                <a:latin typeface="Calibri"/>
              </a:rPr>
              <a:t> se </a:t>
            </a:r>
            <a:r>
              <a:rPr sz="1800" dirty="0" err="1">
                <a:solidFill>
                  <a:srgbClr val="E6EBF5"/>
                </a:solidFill>
                <a:latin typeface="Calibri"/>
              </a:rPr>
              <a:t>comunica</a:t>
            </a:r>
            <a:r>
              <a:rPr sz="1800" dirty="0">
                <a:solidFill>
                  <a:srgbClr val="E6EBF5"/>
                </a:solidFill>
                <a:latin typeface="Calibri"/>
              </a:rPr>
              <a:t> a </a:t>
            </a:r>
            <a:r>
              <a:rPr sz="1800" dirty="0" err="1">
                <a:solidFill>
                  <a:srgbClr val="E6EBF5"/>
                </a:solidFill>
                <a:latin typeface="Calibri"/>
              </a:rPr>
              <a:t>través</a:t>
            </a:r>
            <a:r>
              <a:rPr sz="1800" dirty="0">
                <a:solidFill>
                  <a:srgbClr val="E6EBF5"/>
                </a:solidFill>
                <a:latin typeface="Calibri"/>
              </a:rPr>
              <a:t> de un sitio web con un </a:t>
            </a:r>
            <a:r>
              <a:rPr sz="1800" dirty="0" err="1">
                <a:solidFill>
                  <a:srgbClr val="E6EBF5"/>
                </a:solidFill>
                <a:latin typeface="Calibri"/>
              </a:rPr>
              <a:t>simulador</a:t>
            </a:r>
            <a:r>
              <a:rPr sz="1800" dirty="0">
                <a:solidFill>
                  <a:srgbClr val="E6EBF5"/>
                </a:solidFill>
                <a:latin typeface="Calibri"/>
              </a:rPr>
              <a:t> </a:t>
            </a:r>
            <a:r>
              <a:rPr sz="1800" dirty="0" err="1">
                <a:solidFill>
                  <a:srgbClr val="E6EBF5"/>
                </a:solidFill>
                <a:latin typeface="Calibri"/>
              </a:rPr>
              <a:t>interactivo</a:t>
            </a:r>
            <a:r>
              <a:rPr sz="1800" dirty="0">
                <a:solidFill>
                  <a:srgbClr val="E6EBF5"/>
                </a:solidFill>
                <a:latin typeface="Calibri"/>
              </a:rPr>
              <a:t>.</a:t>
            </a:r>
          </a:p>
        </p:txBody>
      </p:sp>
      <p:sp>
        <p:nvSpPr>
          <p:cNvPr id="3" name="Rectangle 2"/>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838200" y="365125"/>
            <a:ext cx="10515600" cy="1325563"/>
          </a:xfrm>
        </p:spPr>
        <p:txBody>
          <a:bodyPr wrap="square">
            <a:noAutofit/>
          </a:bodyPr>
          <a:lstStyle/>
          <a:p>
            <a:pPr>
              <a:spcAft>
                <a:spcPts val="1400"/>
              </a:spcAft>
              <a:buNone/>
            </a:pPr>
            <a:br>
              <a:rPr lang="es-419"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br>
              <a:rPr lang="es-CL" sz="2600" b="1" dirty="0">
                <a:solidFill>
                  <a:srgbClr val="22D3EE"/>
                </a:solidFill>
                <a:latin typeface="Calibri"/>
              </a:rPr>
            </a:br>
            <a:r>
              <a:rPr sz="2600" b="1" dirty="0">
                <a:solidFill>
                  <a:srgbClr val="22D3EE"/>
                </a:solidFill>
                <a:latin typeface="Calibri"/>
              </a:rPr>
              <a:t>Tema, </a:t>
            </a:r>
            <a:r>
              <a:rPr sz="2600" b="1" dirty="0" err="1">
                <a:solidFill>
                  <a:srgbClr val="22D3EE"/>
                </a:solidFill>
                <a:latin typeface="Calibri"/>
              </a:rPr>
              <a:t>nociones</a:t>
            </a:r>
            <a:r>
              <a:rPr sz="2600" b="1" dirty="0">
                <a:solidFill>
                  <a:srgbClr val="22D3EE"/>
                </a:solidFill>
                <a:latin typeface="Calibri"/>
              </a:rPr>
              <a:t> </a:t>
            </a:r>
            <a:r>
              <a:rPr sz="2600" b="1" dirty="0" err="1">
                <a:solidFill>
                  <a:srgbClr val="22D3EE"/>
                </a:solidFill>
                <a:latin typeface="Calibri"/>
              </a:rPr>
              <a:t>matemáticas</a:t>
            </a:r>
            <a:r>
              <a:rPr sz="2600" b="1" dirty="0">
                <a:solidFill>
                  <a:srgbClr val="22D3EE"/>
                </a:solidFill>
                <a:latin typeface="Calibri"/>
              </a:rPr>
              <a:t> y </a:t>
            </a:r>
            <a:r>
              <a:rPr sz="2600" b="1" dirty="0" err="1">
                <a:solidFill>
                  <a:srgbClr val="22D3EE"/>
                </a:solidFill>
                <a:latin typeface="Calibri"/>
              </a:rPr>
              <a:t>problemática</a:t>
            </a:r>
            <a:endParaRPr lang="es-CL" dirty="0"/>
          </a:p>
          <a:p>
            <a:pPr>
              <a:spcBef>
                <a:spcPts val="1000"/>
              </a:spcBef>
              <a:spcAft>
                <a:spcPts val="400"/>
              </a:spcAft>
              <a:buNone/>
            </a:pPr>
            <a:r>
              <a:rPr sz="1800" b="1" dirty="0">
                <a:solidFill>
                  <a:srgbClr val="A855F7"/>
                </a:solidFill>
                <a:latin typeface="Calibri"/>
              </a:rPr>
              <a:t>Tema:</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Optimización</a:t>
            </a:r>
            <a:r>
              <a:rPr sz="1800" dirty="0">
                <a:solidFill>
                  <a:srgbClr val="E6EBF5"/>
                </a:solidFill>
                <a:latin typeface="Calibri"/>
              </a:rPr>
              <a:t> de </a:t>
            </a:r>
            <a:r>
              <a:rPr sz="1800" dirty="0" err="1">
                <a:solidFill>
                  <a:srgbClr val="E6EBF5"/>
                </a:solidFill>
                <a:latin typeface="Calibri"/>
              </a:rPr>
              <a:t>costos</a:t>
            </a:r>
            <a:r>
              <a:rPr sz="1800" dirty="0">
                <a:solidFill>
                  <a:srgbClr val="E6EBF5"/>
                </a:solidFill>
                <a:latin typeface="Calibri"/>
              </a:rPr>
              <a:t> de </a:t>
            </a:r>
            <a:r>
              <a:rPr sz="1800" dirty="0" err="1">
                <a:solidFill>
                  <a:srgbClr val="E6EBF5"/>
                </a:solidFill>
                <a:latin typeface="Calibri"/>
              </a:rPr>
              <a:t>infraestructura</a:t>
            </a:r>
            <a:r>
              <a:rPr sz="1800" dirty="0">
                <a:solidFill>
                  <a:srgbClr val="E6EBF5"/>
                </a:solidFill>
                <a:latin typeface="Calibri"/>
              </a:rPr>
              <a:t> cloud </a:t>
            </a:r>
            <a:r>
              <a:rPr sz="1800" dirty="0" err="1">
                <a:solidFill>
                  <a:srgbClr val="E6EBF5"/>
                </a:solidFill>
                <a:latin typeface="Calibri"/>
              </a:rPr>
              <a:t>mediante</a:t>
            </a:r>
            <a:r>
              <a:rPr sz="1800" dirty="0">
                <a:solidFill>
                  <a:srgbClr val="E6EBF5"/>
                </a:solidFill>
                <a:latin typeface="Calibri"/>
              </a:rPr>
              <a:t> </a:t>
            </a:r>
            <a:r>
              <a:rPr sz="1800" dirty="0" err="1">
                <a:solidFill>
                  <a:srgbClr val="E6EBF5"/>
                </a:solidFill>
                <a:latin typeface="Calibri"/>
              </a:rPr>
              <a:t>cálculo</a:t>
            </a:r>
            <a:r>
              <a:rPr sz="1800" dirty="0">
                <a:solidFill>
                  <a:srgbClr val="E6EBF5"/>
                </a:solidFill>
                <a:latin typeface="Calibri"/>
              </a:rPr>
              <a:t> </a:t>
            </a:r>
            <a:r>
              <a:rPr sz="1800" dirty="0" err="1">
                <a:solidFill>
                  <a:srgbClr val="E6EBF5"/>
                </a:solidFill>
                <a:latin typeface="Calibri"/>
              </a:rPr>
              <a:t>diferencial</a:t>
            </a:r>
            <a:r>
              <a:rPr sz="1800" dirty="0">
                <a:solidFill>
                  <a:srgbClr val="E6EBF5"/>
                </a:solidFill>
                <a:latin typeface="Calibri"/>
              </a:rPr>
              <a:t>.</a:t>
            </a:r>
          </a:p>
          <a:p>
            <a:pPr>
              <a:spcBef>
                <a:spcPts val="1000"/>
              </a:spcBef>
              <a:spcAft>
                <a:spcPts val="400"/>
              </a:spcAft>
              <a:buNone/>
            </a:pPr>
            <a:r>
              <a:rPr sz="1800" b="1" dirty="0" err="1">
                <a:solidFill>
                  <a:srgbClr val="A855F7"/>
                </a:solidFill>
                <a:latin typeface="Calibri"/>
              </a:rPr>
              <a:t>Nociones</a:t>
            </a:r>
            <a:r>
              <a:rPr sz="1800" b="1" dirty="0">
                <a:solidFill>
                  <a:srgbClr val="A855F7"/>
                </a:solidFill>
                <a:latin typeface="Calibri"/>
              </a:rPr>
              <a:t> </a:t>
            </a:r>
            <a:r>
              <a:rPr sz="1800" b="1" dirty="0" err="1">
                <a:solidFill>
                  <a:srgbClr val="A855F7"/>
                </a:solidFill>
                <a:latin typeface="Calibri"/>
              </a:rPr>
              <a:t>matemáticas</a:t>
            </a:r>
            <a:r>
              <a:rPr sz="1800" b="1" dirty="0">
                <a:solidFill>
                  <a:srgbClr val="A855F7"/>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Funciones</a:t>
            </a:r>
            <a:r>
              <a:rPr sz="1800" dirty="0">
                <a:solidFill>
                  <a:srgbClr val="E6EBF5"/>
                </a:solidFill>
                <a:latin typeface="Calibri"/>
              </a:rPr>
              <a:t> </a:t>
            </a:r>
            <a:r>
              <a:rPr sz="1800" dirty="0" err="1">
                <a:solidFill>
                  <a:srgbClr val="E6EBF5"/>
                </a:solidFill>
                <a:latin typeface="Calibri"/>
              </a:rPr>
              <a:t>cuadráticas</a:t>
            </a:r>
            <a:r>
              <a:rPr sz="1800" dirty="0">
                <a:solidFill>
                  <a:srgbClr val="E6EBF5"/>
                </a:solidFill>
                <a:latin typeface="Calibri"/>
              </a:rPr>
              <a:t>, </a:t>
            </a:r>
            <a:r>
              <a:rPr sz="1800" dirty="0" err="1">
                <a:solidFill>
                  <a:srgbClr val="E6EBF5"/>
                </a:solidFill>
                <a:latin typeface="Calibri"/>
              </a:rPr>
              <a:t>derivada</a:t>
            </a:r>
            <a:r>
              <a:rPr sz="1800" dirty="0">
                <a:solidFill>
                  <a:srgbClr val="E6EBF5"/>
                </a:solidFill>
                <a:latin typeface="Calibri"/>
              </a:rPr>
              <a:t>, puntos </a:t>
            </a:r>
            <a:r>
              <a:rPr sz="1800" dirty="0" err="1">
                <a:solidFill>
                  <a:srgbClr val="E6EBF5"/>
                </a:solidFill>
                <a:latin typeface="Calibri"/>
              </a:rPr>
              <a:t>críticos</a:t>
            </a:r>
            <a:r>
              <a:rPr sz="1800" dirty="0">
                <a:solidFill>
                  <a:srgbClr val="E6EBF5"/>
                </a:solidFill>
                <a:latin typeface="Calibri"/>
              </a:rPr>
              <a:t> y </a:t>
            </a:r>
            <a:r>
              <a:rPr sz="1800" dirty="0" err="1">
                <a:solidFill>
                  <a:srgbClr val="E6EBF5"/>
                </a:solidFill>
                <a:latin typeface="Calibri"/>
              </a:rPr>
              <a:t>criterio</a:t>
            </a:r>
            <a:r>
              <a:rPr sz="1800" dirty="0">
                <a:solidFill>
                  <a:srgbClr val="E6EBF5"/>
                </a:solidFill>
                <a:latin typeface="Calibri"/>
              </a:rPr>
              <a:t> de la </a:t>
            </a:r>
            <a:r>
              <a:rPr sz="1800" dirty="0" err="1">
                <a:solidFill>
                  <a:srgbClr val="E6EBF5"/>
                </a:solidFill>
                <a:latin typeface="Calibri"/>
              </a:rPr>
              <a:t>segunda</a:t>
            </a:r>
            <a:r>
              <a:rPr sz="1800" dirty="0">
                <a:solidFill>
                  <a:srgbClr val="E6EBF5"/>
                </a:solidFill>
                <a:latin typeface="Calibri"/>
              </a:rPr>
              <a:t> </a:t>
            </a:r>
            <a:r>
              <a:rPr sz="1800" dirty="0" err="1">
                <a:solidFill>
                  <a:srgbClr val="E6EBF5"/>
                </a:solidFill>
                <a:latin typeface="Calibri"/>
              </a:rPr>
              <a:t>derivada</a:t>
            </a:r>
            <a:r>
              <a:rPr sz="1800" dirty="0">
                <a:solidFill>
                  <a:srgbClr val="E6EBF5"/>
                </a:solidFill>
                <a:latin typeface="Calibri"/>
              </a:rPr>
              <a:t>.</a:t>
            </a:r>
          </a:p>
          <a:p>
            <a:pPr>
              <a:spcBef>
                <a:spcPts val="1000"/>
              </a:spcBef>
              <a:spcAft>
                <a:spcPts val="400"/>
              </a:spcAft>
              <a:buNone/>
            </a:pPr>
            <a:r>
              <a:rPr sz="1800" b="1" dirty="0" err="1">
                <a:solidFill>
                  <a:srgbClr val="A855F7"/>
                </a:solidFill>
                <a:latin typeface="Calibri"/>
              </a:rPr>
              <a:t>Problemática</a:t>
            </a:r>
            <a:r>
              <a:rPr sz="1800" b="1" dirty="0">
                <a:solidFill>
                  <a:srgbClr val="A855F7"/>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Sobredimensionar</a:t>
            </a:r>
            <a:r>
              <a:rPr sz="1800" dirty="0">
                <a:solidFill>
                  <a:srgbClr val="E6EBF5"/>
                </a:solidFill>
                <a:latin typeface="Calibri"/>
              </a:rPr>
              <a:t> </a:t>
            </a:r>
            <a:r>
              <a:rPr sz="1800" dirty="0" err="1">
                <a:solidFill>
                  <a:srgbClr val="E6EBF5"/>
                </a:solidFill>
                <a:latin typeface="Calibri"/>
              </a:rPr>
              <a:t>recursos</a:t>
            </a:r>
            <a:r>
              <a:rPr sz="1800" dirty="0">
                <a:solidFill>
                  <a:srgbClr val="E6EBF5"/>
                </a:solidFill>
                <a:latin typeface="Calibri"/>
              </a:rPr>
              <a:t> </a:t>
            </a:r>
            <a:r>
              <a:rPr sz="1800" dirty="0" err="1">
                <a:solidFill>
                  <a:srgbClr val="E6EBF5"/>
                </a:solidFill>
                <a:latin typeface="Calibri"/>
              </a:rPr>
              <a:t>implica</a:t>
            </a:r>
            <a:r>
              <a:rPr sz="1800" dirty="0">
                <a:solidFill>
                  <a:srgbClr val="E6EBF5"/>
                </a:solidFill>
                <a:latin typeface="Calibri"/>
              </a:rPr>
              <a:t> </a:t>
            </a:r>
            <a:r>
              <a:rPr sz="1800" dirty="0" err="1">
                <a:solidFill>
                  <a:srgbClr val="E6EBF5"/>
                </a:solidFill>
                <a:latin typeface="Calibri"/>
              </a:rPr>
              <a:t>pagar</a:t>
            </a:r>
            <a:r>
              <a:rPr sz="1800" dirty="0">
                <a:solidFill>
                  <a:srgbClr val="E6EBF5"/>
                </a:solidFill>
                <a:latin typeface="Calibri"/>
              </a:rPr>
              <a:t> de </a:t>
            </a:r>
            <a:r>
              <a:rPr sz="1800" dirty="0" err="1">
                <a:solidFill>
                  <a:srgbClr val="E6EBF5"/>
                </a:solidFill>
                <a:latin typeface="Calibri"/>
              </a:rPr>
              <a:t>más</a:t>
            </a:r>
            <a:r>
              <a:rPr sz="1800" dirty="0">
                <a:solidFill>
                  <a:srgbClr val="E6EBF5"/>
                </a:solidFill>
                <a:latin typeface="Calibri"/>
              </a:rPr>
              <a:t>; </a:t>
            </a:r>
            <a:r>
              <a:rPr sz="1800" dirty="0" err="1">
                <a:solidFill>
                  <a:srgbClr val="E6EBF5"/>
                </a:solidFill>
                <a:latin typeface="Calibri"/>
              </a:rPr>
              <a:t>subdimensionarlos</a:t>
            </a:r>
            <a:r>
              <a:rPr sz="1800" dirty="0">
                <a:solidFill>
                  <a:srgbClr val="E6EBF5"/>
                </a:solidFill>
                <a:latin typeface="Calibri"/>
              </a:rPr>
              <a:t> </a:t>
            </a:r>
            <a:r>
              <a:rPr sz="1800" dirty="0" err="1">
                <a:solidFill>
                  <a:srgbClr val="E6EBF5"/>
                </a:solidFill>
                <a:latin typeface="Calibri"/>
              </a:rPr>
              <a:t>afecta</a:t>
            </a:r>
            <a:r>
              <a:rPr sz="1800" dirty="0">
                <a:solidFill>
                  <a:srgbClr val="E6EBF5"/>
                </a:solidFill>
                <a:latin typeface="Calibri"/>
              </a:rPr>
              <a:t> el </a:t>
            </a:r>
            <a:r>
              <a:rPr sz="1800" dirty="0" err="1">
                <a:solidFill>
                  <a:srgbClr val="E6EBF5"/>
                </a:solidFill>
                <a:latin typeface="Calibri"/>
              </a:rPr>
              <a:t>rendimiento</a:t>
            </a:r>
            <a:r>
              <a:rPr sz="1800" dirty="0">
                <a:solidFill>
                  <a:srgbClr val="E6EBF5"/>
                </a:solidFill>
                <a:latin typeface="Calibri"/>
              </a:rPr>
              <a:t> del </a:t>
            </a:r>
            <a:r>
              <a:rPr sz="1800" dirty="0" err="1">
                <a:solidFill>
                  <a:srgbClr val="E6EBF5"/>
                </a:solidFill>
                <a:latin typeface="Calibri"/>
              </a:rPr>
              <a:t>servicio</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Pregunta</a:t>
            </a:r>
            <a:r>
              <a:rPr sz="1800" dirty="0">
                <a:solidFill>
                  <a:srgbClr val="E6EBF5"/>
                </a:solidFill>
                <a:latin typeface="Calibri"/>
              </a:rPr>
              <a:t> central: ¿</a:t>
            </a:r>
            <a:r>
              <a:rPr sz="1800" dirty="0" err="1">
                <a:solidFill>
                  <a:srgbClr val="E6EBF5"/>
                </a:solidFill>
                <a:latin typeface="Calibri"/>
              </a:rPr>
              <a:t>cómo</a:t>
            </a:r>
            <a:r>
              <a:rPr sz="1800" dirty="0">
                <a:solidFill>
                  <a:srgbClr val="E6EBF5"/>
                </a:solidFill>
                <a:latin typeface="Calibri"/>
              </a:rPr>
              <a:t> </a:t>
            </a:r>
            <a:r>
              <a:rPr sz="1800" dirty="0" err="1">
                <a:solidFill>
                  <a:srgbClr val="E6EBF5"/>
                </a:solidFill>
                <a:latin typeface="Calibri"/>
              </a:rPr>
              <a:t>determinar</a:t>
            </a:r>
            <a:r>
              <a:rPr sz="1800" dirty="0">
                <a:solidFill>
                  <a:srgbClr val="E6EBF5"/>
                </a:solidFill>
                <a:latin typeface="Calibri"/>
              </a:rPr>
              <a:t> </a:t>
            </a:r>
            <a:r>
              <a:rPr sz="1800" dirty="0" err="1">
                <a:solidFill>
                  <a:srgbClr val="E6EBF5"/>
                </a:solidFill>
                <a:latin typeface="Calibri"/>
              </a:rPr>
              <a:t>matemáticamente</a:t>
            </a:r>
            <a:r>
              <a:rPr sz="1800" dirty="0">
                <a:solidFill>
                  <a:srgbClr val="E6EBF5"/>
                </a:solidFill>
                <a:latin typeface="Calibri"/>
              </a:rPr>
              <a:t> el </a:t>
            </a:r>
            <a:r>
              <a:rPr sz="1800" dirty="0" err="1">
                <a:solidFill>
                  <a:srgbClr val="E6EBF5"/>
                </a:solidFill>
                <a:latin typeface="Calibri"/>
              </a:rPr>
              <a:t>número</a:t>
            </a:r>
            <a:r>
              <a:rPr sz="1800" dirty="0">
                <a:solidFill>
                  <a:srgbClr val="E6EBF5"/>
                </a:solidFill>
                <a:latin typeface="Calibri"/>
              </a:rPr>
              <a:t> de </a:t>
            </a:r>
            <a:r>
              <a:rPr sz="1800" dirty="0" err="1">
                <a:solidFill>
                  <a:srgbClr val="E6EBF5"/>
                </a:solidFill>
                <a:latin typeface="Calibri"/>
              </a:rPr>
              <a:t>instancias</a:t>
            </a:r>
            <a:r>
              <a:rPr sz="1800" dirty="0">
                <a:solidFill>
                  <a:srgbClr val="E6EBF5"/>
                </a:solidFill>
                <a:latin typeface="Calibri"/>
              </a:rPr>
              <a:t> </a:t>
            </a:r>
            <a:r>
              <a:rPr sz="1800" dirty="0" err="1">
                <a:solidFill>
                  <a:srgbClr val="E6EBF5"/>
                </a:solidFill>
                <a:latin typeface="Calibri"/>
              </a:rPr>
              <a:t>que</a:t>
            </a:r>
            <a:r>
              <a:rPr sz="1800" dirty="0">
                <a:solidFill>
                  <a:srgbClr val="E6EBF5"/>
                </a:solidFill>
                <a:latin typeface="Calibri"/>
              </a:rPr>
              <a:t> </a:t>
            </a:r>
            <a:r>
              <a:rPr sz="1800" dirty="0" err="1">
                <a:solidFill>
                  <a:srgbClr val="E6EBF5"/>
                </a:solidFill>
                <a:latin typeface="Calibri"/>
              </a:rPr>
              <a:t>minimiza</a:t>
            </a:r>
            <a:r>
              <a:rPr sz="1800" dirty="0">
                <a:solidFill>
                  <a:srgbClr val="E6EBF5"/>
                </a:solidFill>
                <a:latin typeface="Calibri"/>
              </a:rPr>
              <a:t> el </a:t>
            </a:r>
            <a:r>
              <a:rPr sz="1800" dirty="0" err="1">
                <a:solidFill>
                  <a:srgbClr val="E6EBF5"/>
                </a:solidFill>
                <a:latin typeface="Calibri"/>
              </a:rPr>
              <a:t>costo</a:t>
            </a:r>
            <a:r>
              <a:rPr sz="1800" dirty="0">
                <a:solidFill>
                  <a:srgbClr val="E6EBF5"/>
                </a:solidFill>
                <a:latin typeface="Calibri"/>
              </a:rPr>
              <a:t>?</a:t>
            </a:r>
          </a:p>
        </p:txBody>
      </p:sp>
      <p:sp>
        <p:nvSpPr>
          <p:cNvPr id="3" name="Rectangle 2"/>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782053" y="2103437"/>
            <a:ext cx="10515600" cy="1325563"/>
          </a:xfrm>
        </p:spPr>
        <p:txBody>
          <a:bodyPr wrap="square">
            <a:noAutofit/>
          </a:bodyPr>
          <a:lstStyle/>
          <a:p>
            <a:pPr>
              <a:spcAft>
                <a:spcPts val="1400"/>
              </a:spcAft>
              <a:buNone/>
            </a:pPr>
            <a:r>
              <a:rPr sz="2600" b="1" dirty="0" err="1">
                <a:solidFill>
                  <a:srgbClr val="22D3EE"/>
                </a:solidFill>
                <a:latin typeface="Calibri"/>
              </a:rPr>
              <a:t>Objetivos</a:t>
            </a:r>
            <a:r>
              <a:rPr sz="2600" b="1" dirty="0">
                <a:solidFill>
                  <a:srgbClr val="22D3EE"/>
                </a:solidFill>
                <a:latin typeface="Calibri"/>
              </a:rPr>
              <a:t> y </a:t>
            </a:r>
            <a:r>
              <a:rPr sz="2600" b="1" dirty="0" err="1">
                <a:solidFill>
                  <a:srgbClr val="22D3EE"/>
                </a:solidFill>
                <a:latin typeface="Calibri"/>
              </a:rPr>
              <a:t>preguntas</a:t>
            </a:r>
            <a:r>
              <a:rPr sz="2600" b="1" dirty="0">
                <a:solidFill>
                  <a:srgbClr val="22D3EE"/>
                </a:solidFill>
                <a:latin typeface="Calibri"/>
              </a:rPr>
              <a:t> de </a:t>
            </a:r>
            <a:r>
              <a:rPr sz="2600" b="1" dirty="0" err="1">
                <a:solidFill>
                  <a:srgbClr val="22D3EE"/>
                </a:solidFill>
                <a:latin typeface="Calibri"/>
              </a:rPr>
              <a:t>investigación</a:t>
            </a:r>
            <a:endParaRPr lang="es-CL" dirty="0"/>
          </a:p>
          <a:p>
            <a:pPr>
              <a:spcBef>
                <a:spcPts val="1000"/>
              </a:spcBef>
              <a:spcAft>
                <a:spcPts val="400"/>
              </a:spcAft>
              <a:buNone/>
            </a:pPr>
            <a:r>
              <a:rPr sz="1800" b="1" dirty="0" err="1">
                <a:solidFill>
                  <a:srgbClr val="A855F7"/>
                </a:solidFill>
                <a:latin typeface="Calibri"/>
              </a:rPr>
              <a:t>Objetivo</a:t>
            </a:r>
            <a:r>
              <a:rPr sz="1800" b="1" dirty="0">
                <a:solidFill>
                  <a:srgbClr val="A855F7"/>
                </a:solidFill>
                <a:latin typeface="Calibri"/>
              </a:rPr>
              <a:t> general:</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Modelar</a:t>
            </a:r>
            <a:r>
              <a:rPr sz="1800" dirty="0">
                <a:solidFill>
                  <a:srgbClr val="E6EBF5"/>
                </a:solidFill>
                <a:latin typeface="Calibri"/>
              </a:rPr>
              <a:t> el </a:t>
            </a:r>
            <a:r>
              <a:rPr sz="1800" dirty="0" err="1">
                <a:solidFill>
                  <a:srgbClr val="E6EBF5"/>
                </a:solidFill>
                <a:latin typeface="Calibri"/>
              </a:rPr>
              <a:t>costo</a:t>
            </a:r>
            <a:r>
              <a:rPr sz="1800" dirty="0">
                <a:solidFill>
                  <a:srgbClr val="E6EBF5"/>
                </a:solidFill>
                <a:latin typeface="Calibri"/>
              </a:rPr>
              <a:t> de </a:t>
            </a:r>
            <a:r>
              <a:rPr sz="1800" dirty="0" err="1">
                <a:solidFill>
                  <a:srgbClr val="E6EBF5"/>
                </a:solidFill>
                <a:latin typeface="Calibri"/>
              </a:rPr>
              <a:t>infraestructura</a:t>
            </a:r>
            <a:r>
              <a:rPr sz="1800" dirty="0">
                <a:solidFill>
                  <a:srgbClr val="E6EBF5"/>
                </a:solidFill>
                <a:latin typeface="Calibri"/>
              </a:rPr>
              <a:t> cloud </a:t>
            </a:r>
            <a:r>
              <a:rPr sz="1800" dirty="0" err="1">
                <a:solidFill>
                  <a:srgbClr val="E6EBF5"/>
                </a:solidFill>
                <a:latin typeface="Calibri"/>
              </a:rPr>
              <a:t>como</a:t>
            </a:r>
            <a:r>
              <a:rPr sz="1800" dirty="0">
                <a:solidFill>
                  <a:srgbClr val="E6EBF5"/>
                </a:solidFill>
                <a:latin typeface="Calibri"/>
              </a:rPr>
              <a:t> </a:t>
            </a:r>
            <a:r>
              <a:rPr sz="1800" dirty="0" err="1">
                <a:solidFill>
                  <a:srgbClr val="E6EBF5"/>
                </a:solidFill>
                <a:latin typeface="Calibri"/>
              </a:rPr>
              <a:t>función</a:t>
            </a:r>
            <a:r>
              <a:rPr sz="1800" dirty="0">
                <a:solidFill>
                  <a:srgbClr val="E6EBF5"/>
                </a:solidFill>
                <a:latin typeface="Calibri"/>
              </a:rPr>
              <a:t> del </a:t>
            </a:r>
            <a:r>
              <a:rPr sz="1800" dirty="0" err="1">
                <a:solidFill>
                  <a:srgbClr val="E6EBF5"/>
                </a:solidFill>
                <a:latin typeface="Calibri"/>
              </a:rPr>
              <a:t>número</a:t>
            </a:r>
            <a:r>
              <a:rPr sz="1800" dirty="0">
                <a:solidFill>
                  <a:srgbClr val="E6EBF5"/>
                </a:solidFill>
                <a:latin typeface="Calibri"/>
              </a:rPr>
              <a:t> de </a:t>
            </a:r>
            <a:r>
              <a:rPr sz="1800" dirty="0" err="1">
                <a:solidFill>
                  <a:srgbClr val="E6EBF5"/>
                </a:solidFill>
                <a:latin typeface="Calibri"/>
              </a:rPr>
              <a:t>instancias</a:t>
            </a:r>
            <a:r>
              <a:rPr sz="1800" dirty="0">
                <a:solidFill>
                  <a:srgbClr val="E6EBF5"/>
                </a:solidFill>
                <a:latin typeface="Calibri"/>
              </a:rPr>
              <a:t> y </a:t>
            </a:r>
            <a:r>
              <a:rPr sz="1800" dirty="0" err="1">
                <a:solidFill>
                  <a:srgbClr val="E6EBF5"/>
                </a:solidFill>
                <a:latin typeface="Calibri"/>
              </a:rPr>
              <a:t>aplicar</a:t>
            </a:r>
            <a:r>
              <a:rPr sz="1800" dirty="0">
                <a:solidFill>
                  <a:srgbClr val="E6EBF5"/>
                </a:solidFill>
                <a:latin typeface="Calibri"/>
              </a:rPr>
              <a:t> la </a:t>
            </a:r>
            <a:r>
              <a:rPr sz="1800" dirty="0" err="1">
                <a:solidFill>
                  <a:srgbClr val="E6EBF5"/>
                </a:solidFill>
                <a:latin typeface="Calibri"/>
              </a:rPr>
              <a:t>derivada</a:t>
            </a:r>
            <a:r>
              <a:rPr sz="1800" dirty="0">
                <a:solidFill>
                  <a:srgbClr val="E6EBF5"/>
                </a:solidFill>
                <a:latin typeface="Calibri"/>
              </a:rPr>
              <a:t> para </a:t>
            </a:r>
            <a:r>
              <a:rPr sz="1800" dirty="0" err="1">
                <a:solidFill>
                  <a:srgbClr val="E6EBF5"/>
                </a:solidFill>
                <a:latin typeface="Calibri"/>
              </a:rPr>
              <a:t>hallar</a:t>
            </a:r>
            <a:r>
              <a:rPr sz="1800" dirty="0">
                <a:solidFill>
                  <a:srgbClr val="E6EBF5"/>
                </a:solidFill>
                <a:latin typeface="Calibri"/>
              </a:rPr>
              <a:t> el </a:t>
            </a:r>
            <a:r>
              <a:rPr sz="1800" dirty="0" err="1">
                <a:solidFill>
                  <a:srgbClr val="E6EBF5"/>
                </a:solidFill>
                <a:latin typeface="Calibri"/>
              </a:rPr>
              <a:t>costo</a:t>
            </a:r>
            <a:r>
              <a:rPr sz="1800" dirty="0">
                <a:solidFill>
                  <a:srgbClr val="E6EBF5"/>
                </a:solidFill>
                <a:latin typeface="Calibri"/>
              </a:rPr>
              <a:t> </a:t>
            </a:r>
            <a:r>
              <a:rPr sz="1800" dirty="0" err="1">
                <a:solidFill>
                  <a:srgbClr val="E6EBF5"/>
                </a:solidFill>
                <a:latin typeface="Calibri"/>
              </a:rPr>
              <a:t>mínimo</a:t>
            </a:r>
            <a:r>
              <a:rPr sz="1800" dirty="0">
                <a:solidFill>
                  <a:srgbClr val="E6EBF5"/>
                </a:solidFill>
                <a:latin typeface="Calibri"/>
              </a:rPr>
              <a:t>.</a:t>
            </a:r>
          </a:p>
          <a:p>
            <a:pPr>
              <a:spcBef>
                <a:spcPts val="1000"/>
              </a:spcBef>
              <a:spcAft>
                <a:spcPts val="400"/>
              </a:spcAft>
              <a:buNone/>
            </a:pPr>
            <a:r>
              <a:rPr sz="1800" b="1" dirty="0" err="1">
                <a:solidFill>
                  <a:srgbClr val="A855F7"/>
                </a:solidFill>
                <a:latin typeface="Calibri"/>
              </a:rPr>
              <a:t>Objetivos</a:t>
            </a:r>
            <a:r>
              <a:rPr sz="1800" b="1" dirty="0">
                <a:solidFill>
                  <a:srgbClr val="A855F7"/>
                </a:solidFill>
                <a:latin typeface="Calibri"/>
              </a:rPr>
              <a:t> </a:t>
            </a:r>
            <a:r>
              <a:rPr sz="1800" b="1" dirty="0" err="1">
                <a:solidFill>
                  <a:srgbClr val="A855F7"/>
                </a:solidFill>
                <a:latin typeface="Calibri"/>
              </a:rPr>
              <a:t>específicos</a:t>
            </a:r>
            <a:r>
              <a:rPr sz="1800" b="1" dirty="0">
                <a:solidFill>
                  <a:srgbClr val="A855F7"/>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Construir</a:t>
            </a:r>
            <a:r>
              <a:rPr sz="1800" dirty="0">
                <a:solidFill>
                  <a:srgbClr val="E6EBF5"/>
                </a:solidFill>
                <a:latin typeface="Calibri"/>
              </a:rPr>
              <a:t> la </a:t>
            </a:r>
            <a:r>
              <a:rPr sz="1800" dirty="0" err="1">
                <a:solidFill>
                  <a:srgbClr val="E6EBF5"/>
                </a:solidFill>
                <a:latin typeface="Calibri"/>
              </a:rPr>
              <a:t>función</a:t>
            </a:r>
            <a:r>
              <a:rPr sz="1800" dirty="0">
                <a:solidFill>
                  <a:srgbClr val="E6EBF5"/>
                </a:solidFill>
                <a:latin typeface="Calibri"/>
              </a:rPr>
              <a:t> de </a:t>
            </a:r>
            <a:r>
              <a:rPr sz="1800" dirty="0" err="1">
                <a:solidFill>
                  <a:srgbClr val="E6EBF5"/>
                </a:solidFill>
                <a:latin typeface="Calibri"/>
              </a:rPr>
              <a:t>costo</a:t>
            </a:r>
            <a:r>
              <a:rPr sz="1800" dirty="0">
                <a:solidFill>
                  <a:srgbClr val="E6EBF5"/>
                </a:solidFill>
                <a:latin typeface="Calibri"/>
              </a:rPr>
              <a:t> C(x).</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Calcular</a:t>
            </a:r>
            <a:r>
              <a:rPr sz="1800" dirty="0">
                <a:solidFill>
                  <a:srgbClr val="E6EBF5"/>
                </a:solidFill>
                <a:latin typeface="Calibri"/>
              </a:rPr>
              <a:t> C'(x) e </a:t>
            </a:r>
            <a:r>
              <a:rPr sz="1800" dirty="0" err="1">
                <a:solidFill>
                  <a:srgbClr val="E6EBF5"/>
                </a:solidFill>
                <a:latin typeface="Calibri"/>
              </a:rPr>
              <a:t>identificar</a:t>
            </a:r>
            <a:r>
              <a:rPr sz="1800" dirty="0">
                <a:solidFill>
                  <a:srgbClr val="E6EBF5"/>
                </a:solidFill>
                <a:latin typeface="Calibri"/>
              </a:rPr>
              <a:t> sus puntos </a:t>
            </a:r>
            <a:r>
              <a:rPr sz="1800" dirty="0" err="1">
                <a:solidFill>
                  <a:srgbClr val="E6EBF5"/>
                </a:solidFill>
                <a:latin typeface="Calibri"/>
              </a:rPr>
              <a:t>críticos</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Verificar</a:t>
            </a:r>
            <a:r>
              <a:rPr sz="1800" dirty="0">
                <a:solidFill>
                  <a:srgbClr val="E6EBF5"/>
                </a:solidFill>
                <a:latin typeface="Calibri"/>
              </a:rPr>
              <a:t> el </a:t>
            </a:r>
            <a:r>
              <a:rPr sz="1800" dirty="0" err="1">
                <a:solidFill>
                  <a:srgbClr val="E6EBF5"/>
                </a:solidFill>
                <a:latin typeface="Calibri"/>
              </a:rPr>
              <a:t>mínimo</a:t>
            </a:r>
            <a:r>
              <a:rPr sz="1800" dirty="0">
                <a:solidFill>
                  <a:srgbClr val="E6EBF5"/>
                </a:solidFill>
                <a:latin typeface="Calibri"/>
              </a:rPr>
              <a:t> con el </a:t>
            </a:r>
            <a:r>
              <a:rPr sz="1800" dirty="0" err="1">
                <a:solidFill>
                  <a:srgbClr val="E6EBF5"/>
                </a:solidFill>
                <a:latin typeface="Calibri"/>
              </a:rPr>
              <a:t>criterio</a:t>
            </a:r>
            <a:r>
              <a:rPr sz="1800" dirty="0">
                <a:solidFill>
                  <a:srgbClr val="E6EBF5"/>
                </a:solidFill>
                <a:latin typeface="Calibri"/>
              </a:rPr>
              <a:t> de la </a:t>
            </a:r>
            <a:r>
              <a:rPr sz="1800" dirty="0" err="1">
                <a:solidFill>
                  <a:srgbClr val="E6EBF5"/>
                </a:solidFill>
                <a:latin typeface="Calibri"/>
              </a:rPr>
              <a:t>segunda</a:t>
            </a:r>
            <a:r>
              <a:rPr sz="1800" dirty="0">
                <a:solidFill>
                  <a:srgbClr val="E6EBF5"/>
                </a:solidFill>
                <a:latin typeface="Calibri"/>
              </a:rPr>
              <a:t> </a:t>
            </a:r>
            <a:r>
              <a:rPr sz="1800" dirty="0" err="1">
                <a:solidFill>
                  <a:srgbClr val="E6EBF5"/>
                </a:solidFill>
                <a:latin typeface="Calibri"/>
              </a:rPr>
              <a:t>derivada</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Desarrollar</a:t>
            </a:r>
            <a:r>
              <a:rPr sz="1800" dirty="0">
                <a:solidFill>
                  <a:srgbClr val="E6EBF5"/>
                </a:solidFill>
                <a:latin typeface="Calibri"/>
              </a:rPr>
              <a:t> un </a:t>
            </a:r>
            <a:r>
              <a:rPr sz="1800" dirty="0" err="1">
                <a:solidFill>
                  <a:srgbClr val="E6EBF5"/>
                </a:solidFill>
                <a:latin typeface="Calibri"/>
              </a:rPr>
              <a:t>simulador</a:t>
            </a:r>
            <a:r>
              <a:rPr sz="1800" dirty="0">
                <a:solidFill>
                  <a:srgbClr val="E6EBF5"/>
                </a:solidFill>
                <a:latin typeface="Calibri"/>
              </a:rPr>
              <a:t> </a:t>
            </a:r>
            <a:r>
              <a:rPr sz="1800" dirty="0" err="1">
                <a:solidFill>
                  <a:srgbClr val="E6EBF5"/>
                </a:solidFill>
                <a:latin typeface="Calibri"/>
              </a:rPr>
              <a:t>interactivo</a:t>
            </a:r>
            <a:r>
              <a:rPr sz="1800" dirty="0">
                <a:solidFill>
                  <a:srgbClr val="E6EBF5"/>
                </a:solidFill>
                <a:latin typeface="Calibri"/>
              </a:rPr>
              <a:t> </a:t>
            </a:r>
            <a:r>
              <a:rPr sz="1800" dirty="0" err="1">
                <a:solidFill>
                  <a:srgbClr val="E6EBF5"/>
                </a:solidFill>
                <a:latin typeface="Calibri"/>
              </a:rPr>
              <a:t>que</a:t>
            </a:r>
            <a:r>
              <a:rPr sz="1800" dirty="0">
                <a:solidFill>
                  <a:srgbClr val="E6EBF5"/>
                </a:solidFill>
                <a:latin typeface="Calibri"/>
              </a:rPr>
              <a:t> </a:t>
            </a:r>
            <a:r>
              <a:rPr sz="1800" dirty="0" err="1">
                <a:solidFill>
                  <a:srgbClr val="E6EBF5"/>
                </a:solidFill>
                <a:latin typeface="Calibri"/>
              </a:rPr>
              <a:t>visualice</a:t>
            </a:r>
            <a:r>
              <a:rPr sz="1800" dirty="0">
                <a:solidFill>
                  <a:srgbClr val="E6EBF5"/>
                </a:solidFill>
                <a:latin typeface="Calibri"/>
              </a:rPr>
              <a:t> C(x) y C'(x).</a:t>
            </a:r>
          </a:p>
          <a:p>
            <a:pPr>
              <a:spcBef>
                <a:spcPts val="1000"/>
              </a:spcBef>
              <a:spcAft>
                <a:spcPts val="400"/>
              </a:spcAft>
              <a:buNone/>
            </a:pPr>
            <a:r>
              <a:rPr sz="1800" b="1" dirty="0" err="1">
                <a:solidFill>
                  <a:srgbClr val="A855F7"/>
                </a:solidFill>
                <a:latin typeface="Calibri"/>
              </a:rPr>
              <a:t>Pregunta</a:t>
            </a:r>
            <a:r>
              <a:rPr sz="1800" b="1" dirty="0">
                <a:solidFill>
                  <a:srgbClr val="A855F7"/>
                </a:solidFill>
                <a:latin typeface="Calibri"/>
              </a:rPr>
              <a:t> de </a:t>
            </a:r>
            <a:r>
              <a:rPr sz="1800" b="1" dirty="0" err="1">
                <a:solidFill>
                  <a:srgbClr val="A855F7"/>
                </a:solidFill>
                <a:latin typeface="Calibri"/>
              </a:rPr>
              <a:t>investigación</a:t>
            </a:r>
            <a:r>
              <a:rPr sz="1800" b="1" dirty="0">
                <a:solidFill>
                  <a:srgbClr val="A855F7"/>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¿Cuál es el </a:t>
            </a:r>
            <a:r>
              <a:rPr sz="1800" dirty="0" err="1">
                <a:solidFill>
                  <a:srgbClr val="E6EBF5"/>
                </a:solidFill>
                <a:latin typeface="Calibri"/>
              </a:rPr>
              <a:t>número</a:t>
            </a:r>
            <a:r>
              <a:rPr sz="1800" dirty="0">
                <a:solidFill>
                  <a:srgbClr val="E6EBF5"/>
                </a:solidFill>
                <a:latin typeface="Calibri"/>
              </a:rPr>
              <a:t> </a:t>
            </a:r>
            <a:r>
              <a:rPr sz="1800" dirty="0" err="1">
                <a:solidFill>
                  <a:srgbClr val="E6EBF5"/>
                </a:solidFill>
                <a:latin typeface="Calibri"/>
              </a:rPr>
              <a:t>óptimo</a:t>
            </a:r>
            <a:r>
              <a:rPr sz="1800" dirty="0">
                <a:solidFill>
                  <a:srgbClr val="E6EBF5"/>
                </a:solidFill>
                <a:latin typeface="Calibri"/>
              </a:rPr>
              <a:t> de </a:t>
            </a:r>
            <a:r>
              <a:rPr sz="1800" dirty="0" err="1">
                <a:solidFill>
                  <a:srgbClr val="E6EBF5"/>
                </a:solidFill>
                <a:latin typeface="Calibri"/>
              </a:rPr>
              <a:t>instancias</a:t>
            </a:r>
            <a:r>
              <a:rPr sz="1800" dirty="0">
                <a:solidFill>
                  <a:srgbClr val="E6EBF5"/>
                </a:solidFill>
                <a:latin typeface="Calibri"/>
              </a:rPr>
              <a:t> </a:t>
            </a:r>
            <a:r>
              <a:rPr sz="1800" dirty="0" err="1">
                <a:solidFill>
                  <a:srgbClr val="E6EBF5"/>
                </a:solidFill>
                <a:latin typeface="Calibri"/>
              </a:rPr>
              <a:t>que</a:t>
            </a:r>
            <a:r>
              <a:rPr sz="1800" dirty="0">
                <a:solidFill>
                  <a:srgbClr val="E6EBF5"/>
                </a:solidFill>
                <a:latin typeface="Calibri"/>
              </a:rPr>
              <a:t> </a:t>
            </a:r>
            <a:r>
              <a:rPr sz="1800" dirty="0" err="1">
                <a:solidFill>
                  <a:srgbClr val="E6EBF5"/>
                </a:solidFill>
                <a:latin typeface="Calibri"/>
              </a:rPr>
              <a:t>minimiza</a:t>
            </a:r>
            <a:r>
              <a:rPr sz="1800" dirty="0">
                <a:solidFill>
                  <a:srgbClr val="E6EBF5"/>
                </a:solidFill>
                <a:latin typeface="Calibri"/>
              </a:rPr>
              <a:t> el </a:t>
            </a:r>
            <a:r>
              <a:rPr sz="1800" dirty="0" err="1">
                <a:solidFill>
                  <a:srgbClr val="E6EBF5"/>
                </a:solidFill>
                <a:latin typeface="Calibri"/>
              </a:rPr>
              <a:t>costo</a:t>
            </a:r>
            <a:r>
              <a:rPr sz="1800" dirty="0">
                <a:solidFill>
                  <a:srgbClr val="E6EBF5"/>
                </a:solidFill>
                <a:latin typeface="Calibri"/>
              </a:rPr>
              <a:t> </a:t>
            </a:r>
            <a:r>
              <a:rPr sz="1800" dirty="0" err="1">
                <a:solidFill>
                  <a:srgbClr val="E6EBF5"/>
                </a:solidFill>
                <a:latin typeface="Calibri"/>
              </a:rPr>
              <a:t>mensual</a:t>
            </a:r>
            <a:r>
              <a:rPr sz="1800" dirty="0">
                <a:solidFill>
                  <a:srgbClr val="E6EBF5"/>
                </a:solidFill>
                <a:latin typeface="Calibri"/>
              </a:rPr>
              <a:t>, y </a:t>
            </a:r>
            <a:r>
              <a:rPr sz="1800" dirty="0" err="1">
                <a:solidFill>
                  <a:srgbClr val="E6EBF5"/>
                </a:solidFill>
                <a:latin typeface="Calibri"/>
              </a:rPr>
              <a:t>cómo</a:t>
            </a:r>
            <a:r>
              <a:rPr sz="1800" dirty="0">
                <a:solidFill>
                  <a:srgbClr val="E6EBF5"/>
                </a:solidFill>
                <a:latin typeface="Calibri"/>
              </a:rPr>
              <a:t> se </a:t>
            </a:r>
            <a:r>
              <a:rPr sz="1800" dirty="0" err="1">
                <a:solidFill>
                  <a:srgbClr val="E6EBF5"/>
                </a:solidFill>
                <a:latin typeface="Calibri"/>
              </a:rPr>
              <a:t>determina</a:t>
            </a:r>
            <a:r>
              <a:rPr sz="1800" dirty="0">
                <a:solidFill>
                  <a:srgbClr val="E6EBF5"/>
                </a:solidFill>
                <a:latin typeface="Calibri"/>
              </a:rPr>
              <a:t> </a:t>
            </a:r>
            <a:r>
              <a:rPr sz="1800" dirty="0" err="1">
                <a:solidFill>
                  <a:srgbClr val="E6EBF5"/>
                </a:solidFill>
                <a:latin typeface="Calibri"/>
              </a:rPr>
              <a:t>usando</a:t>
            </a:r>
            <a:r>
              <a:rPr sz="1800" dirty="0">
                <a:solidFill>
                  <a:srgbClr val="E6EBF5"/>
                </a:solidFill>
                <a:latin typeface="Calibri"/>
              </a:rPr>
              <a:t> la </a:t>
            </a:r>
            <a:r>
              <a:rPr sz="1800" dirty="0" err="1">
                <a:solidFill>
                  <a:srgbClr val="E6EBF5"/>
                </a:solidFill>
                <a:latin typeface="Calibri"/>
              </a:rPr>
              <a:t>derivada</a:t>
            </a:r>
            <a:r>
              <a:rPr sz="1800" dirty="0">
                <a:solidFill>
                  <a:srgbClr val="E6EBF5"/>
                </a:solidFill>
                <a:latin typeface="Calibri"/>
              </a:rPr>
              <a:t>?</a:t>
            </a:r>
          </a:p>
        </p:txBody>
      </p:sp>
      <p:sp>
        <p:nvSpPr>
          <p:cNvPr id="3" name="Rectangle 2"/>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838200" y="1223378"/>
            <a:ext cx="10515600" cy="1325563"/>
          </a:xfrm>
        </p:spPr>
        <p:txBody>
          <a:bodyPr wrap="square">
            <a:noAutofit/>
          </a:bodyPr>
          <a:lstStyle/>
          <a:p>
            <a:pPr>
              <a:spcAft>
                <a:spcPts val="1400"/>
              </a:spcAft>
              <a:buNone/>
            </a:pPr>
            <a:r>
              <a:rPr sz="2600" b="1" dirty="0">
                <a:solidFill>
                  <a:srgbClr val="22D3EE"/>
                </a:solidFill>
                <a:latin typeface="Calibri"/>
              </a:rPr>
              <a:t>Temas </a:t>
            </a:r>
            <a:r>
              <a:rPr sz="2600" b="1" dirty="0" err="1">
                <a:solidFill>
                  <a:srgbClr val="22D3EE"/>
                </a:solidFill>
                <a:latin typeface="Calibri"/>
              </a:rPr>
              <a:t>iniciales</a:t>
            </a:r>
            <a:r>
              <a:rPr sz="2600" b="1" dirty="0">
                <a:solidFill>
                  <a:srgbClr val="22D3EE"/>
                </a:solidFill>
                <a:latin typeface="Calibri"/>
              </a:rPr>
              <a:t> </a:t>
            </a:r>
            <a:r>
              <a:rPr sz="2600" b="1" dirty="0" err="1">
                <a:solidFill>
                  <a:srgbClr val="22D3EE"/>
                </a:solidFill>
                <a:latin typeface="Calibri"/>
              </a:rPr>
              <a:t>involucrados</a:t>
            </a:r>
            <a:endParaRPr lang="es-CL" dirty="0"/>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Funciones</a:t>
            </a:r>
            <a:r>
              <a:rPr sz="1800" dirty="0">
                <a:solidFill>
                  <a:srgbClr val="E6EBF5"/>
                </a:solidFill>
                <a:latin typeface="Calibri"/>
              </a:rPr>
              <a:t> </a:t>
            </a:r>
            <a:r>
              <a:rPr sz="1800" dirty="0" err="1">
                <a:solidFill>
                  <a:srgbClr val="E6EBF5"/>
                </a:solidFill>
                <a:latin typeface="Calibri"/>
              </a:rPr>
              <a:t>polinomiales</a:t>
            </a:r>
            <a:r>
              <a:rPr sz="1800" dirty="0">
                <a:solidFill>
                  <a:srgbClr val="E6EBF5"/>
                </a:solidFill>
                <a:latin typeface="Calibri"/>
              </a:rPr>
              <a:t> (</a:t>
            </a:r>
            <a:r>
              <a:rPr sz="1800" dirty="0" err="1">
                <a:solidFill>
                  <a:srgbClr val="E6EBF5"/>
                </a:solidFill>
                <a:latin typeface="Calibri"/>
              </a:rPr>
              <a:t>función</a:t>
            </a:r>
            <a:r>
              <a:rPr sz="1800" dirty="0">
                <a:solidFill>
                  <a:srgbClr val="E6EBF5"/>
                </a:solidFill>
                <a:latin typeface="Calibri"/>
              </a:rPr>
              <a:t> </a:t>
            </a:r>
            <a:r>
              <a:rPr sz="1800" dirty="0" err="1">
                <a:solidFill>
                  <a:srgbClr val="E6EBF5"/>
                </a:solidFill>
                <a:latin typeface="Calibri"/>
              </a:rPr>
              <a:t>cuadrática</a:t>
            </a:r>
            <a:r>
              <a:rPr sz="1800" dirty="0">
                <a:solidFill>
                  <a:srgbClr val="E6EBF5"/>
                </a:solidFill>
                <a:latin typeface="Calibri"/>
              </a:rPr>
              <a:t> de </a:t>
            </a:r>
            <a:r>
              <a:rPr sz="1800" dirty="0" err="1">
                <a:solidFill>
                  <a:srgbClr val="E6EBF5"/>
                </a:solidFill>
                <a:latin typeface="Calibri"/>
              </a:rPr>
              <a:t>costo</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Límites</a:t>
            </a:r>
            <a:r>
              <a:rPr sz="1800" dirty="0">
                <a:solidFill>
                  <a:srgbClr val="E6EBF5"/>
                </a:solidFill>
                <a:latin typeface="Calibri"/>
              </a:rPr>
              <a:t> y </a:t>
            </a:r>
            <a:r>
              <a:rPr sz="1800" dirty="0" err="1">
                <a:solidFill>
                  <a:srgbClr val="E6EBF5"/>
                </a:solidFill>
                <a:latin typeface="Calibri"/>
              </a:rPr>
              <a:t>continuidad</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Reglas de </a:t>
            </a:r>
            <a:r>
              <a:rPr sz="1800" dirty="0" err="1">
                <a:solidFill>
                  <a:srgbClr val="E6EBF5"/>
                </a:solidFill>
                <a:latin typeface="Calibri"/>
              </a:rPr>
              <a:t>derivación</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Puntos </a:t>
            </a:r>
            <a:r>
              <a:rPr sz="1800" dirty="0" err="1">
                <a:solidFill>
                  <a:srgbClr val="E6EBF5"/>
                </a:solidFill>
                <a:latin typeface="Calibri"/>
              </a:rPr>
              <a:t>críticos</a:t>
            </a:r>
            <a:r>
              <a:rPr sz="1800" dirty="0">
                <a:solidFill>
                  <a:srgbClr val="E6EBF5"/>
                </a:solidFill>
                <a:latin typeface="Calibri"/>
              </a:rPr>
              <a:t> y </a:t>
            </a:r>
            <a:r>
              <a:rPr sz="1800" dirty="0" err="1">
                <a:solidFill>
                  <a:srgbClr val="E6EBF5"/>
                </a:solidFill>
                <a:latin typeface="Calibri"/>
              </a:rPr>
              <a:t>criterio</a:t>
            </a:r>
            <a:r>
              <a:rPr sz="1800" dirty="0">
                <a:solidFill>
                  <a:srgbClr val="E6EBF5"/>
                </a:solidFill>
                <a:latin typeface="Calibri"/>
              </a:rPr>
              <a:t> de la </a:t>
            </a:r>
            <a:r>
              <a:rPr sz="1800" dirty="0" err="1">
                <a:solidFill>
                  <a:srgbClr val="E6EBF5"/>
                </a:solidFill>
                <a:latin typeface="Calibri"/>
              </a:rPr>
              <a:t>primera</a:t>
            </a:r>
            <a:r>
              <a:rPr sz="1800" dirty="0">
                <a:solidFill>
                  <a:srgbClr val="E6EBF5"/>
                </a:solidFill>
                <a:latin typeface="Calibri"/>
              </a:rPr>
              <a:t> y </a:t>
            </a:r>
            <a:r>
              <a:rPr sz="1800" dirty="0" err="1">
                <a:solidFill>
                  <a:srgbClr val="E6EBF5"/>
                </a:solidFill>
                <a:latin typeface="Calibri"/>
              </a:rPr>
              <a:t>segunda</a:t>
            </a:r>
            <a:r>
              <a:rPr sz="1800" dirty="0">
                <a:solidFill>
                  <a:srgbClr val="E6EBF5"/>
                </a:solidFill>
                <a:latin typeface="Calibri"/>
              </a:rPr>
              <a:t> </a:t>
            </a:r>
            <a:r>
              <a:rPr sz="1800" dirty="0" err="1">
                <a:solidFill>
                  <a:srgbClr val="E6EBF5"/>
                </a:solidFill>
                <a:latin typeface="Calibri"/>
              </a:rPr>
              <a:t>derivada</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Optimización</a:t>
            </a:r>
            <a:r>
              <a:rPr sz="1800" dirty="0">
                <a:solidFill>
                  <a:srgbClr val="E6EBF5"/>
                </a:solidFill>
                <a:latin typeface="Calibri"/>
              </a:rPr>
              <a:t> </a:t>
            </a:r>
            <a:r>
              <a:rPr sz="1800" dirty="0" err="1">
                <a:solidFill>
                  <a:srgbClr val="E6EBF5"/>
                </a:solidFill>
                <a:latin typeface="Calibri"/>
              </a:rPr>
              <a:t>aplicada</a:t>
            </a:r>
            <a:r>
              <a:rPr sz="1800" dirty="0">
                <a:solidFill>
                  <a:srgbClr val="E6EBF5"/>
                </a:solidFill>
                <a:latin typeface="Calibri"/>
              </a:rPr>
              <a:t> a </a:t>
            </a:r>
            <a:r>
              <a:rPr sz="1800" dirty="0" err="1">
                <a:solidFill>
                  <a:srgbClr val="E6EBF5"/>
                </a:solidFill>
                <a:latin typeface="Calibri"/>
              </a:rPr>
              <a:t>problemas</a:t>
            </a:r>
            <a:r>
              <a:rPr sz="1800" dirty="0">
                <a:solidFill>
                  <a:srgbClr val="E6EBF5"/>
                </a:solidFill>
                <a:latin typeface="Calibri"/>
              </a:rPr>
              <a:t> de </a:t>
            </a:r>
            <a:r>
              <a:rPr sz="1800" dirty="0" err="1">
                <a:solidFill>
                  <a:srgbClr val="E6EBF5"/>
                </a:solidFill>
                <a:latin typeface="Calibri"/>
              </a:rPr>
              <a:t>ingeniería</a:t>
            </a:r>
            <a:r>
              <a:rPr sz="1800" dirty="0">
                <a:solidFill>
                  <a:srgbClr val="E6EBF5"/>
                </a:solidFill>
                <a:latin typeface="Calibri"/>
              </a:rPr>
              <a:t>.</a:t>
            </a:r>
          </a:p>
        </p:txBody>
      </p:sp>
      <p:sp>
        <p:nvSpPr>
          <p:cNvPr id="3" name="Rectangle 2"/>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838200" y="365125"/>
            <a:ext cx="10515600" cy="1325563"/>
          </a:xfrm>
        </p:spPr>
        <p:txBody>
          <a:bodyPr wrap="square">
            <a:noAutofit/>
          </a:bodyPr>
          <a:lstStyle/>
          <a:p>
            <a:pPr>
              <a:spcAft>
                <a:spcPts val="1400"/>
              </a:spcAft>
              <a:buNone/>
            </a:pPr>
            <a:r>
              <a:rPr sz="2600" b="1">
                <a:solidFill>
                  <a:srgbClr val="22D3EE"/>
                </a:solidFill>
                <a:latin typeface="Calibri"/>
              </a:rPr>
              <a:t>Cronograma y materiales a utilizar</a:t>
            </a:r>
            <a:endParaRPr lang="es-CL" dirty="0"/>
          </a:p>
        </p:txBody>
      </p:sp>
      <p:graphicFrame>
        <p:nvGraphicFramePr>
          <p:cNvPr id="3" name="Table 2"/>
          <p:cNvGraphicFramePr>
            <a:graphicFrameLocks noGrp="1"/>
          </p:cNvGraphicFramePr>
          <p:nvPr/>
        </p:nvGraphicFramePr>
        <p:xfrm>
          <a:off x="838200" y="1790688"/>
          <a:ext cx="10515600" cy="3165785"/>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14285">
                <a:tc>
                  <a:txBody>
                    <a:bodyPr/>
                    <a:lstStyle/>
                    <a:p>
                      <a:pPr>
                        <a:buNone/>
                      </a:pPr>
                      <a:r>
                        <a:rPr sz="1200" b="1">
                          <a:solidFill>
                            <a:srgbClr val="22D3EE"/>
                          </a:solidFill>
                          <a:latin typeface="Calibri"/>
                        </a:rPr>
                        <a:t>Tareas</a:t>
                      </a:r>
                    </a:p>
                  </a:txBody>
                  <a:tcPr>
                    <a:solidFill>
                      <a:srgbClr val="0D0F1E"/>
                    </a:solidFill>
                  </a:tcPr>
                </a:tc>
                <a:tc>
                  <a:txBody>
                    <a:bodyPr/>
                    <a:lstStyle/>
                    <a:p>
                      <a:pPr>
                        <a:buNone/>
                      </a:pPr>
                      <a:r>
                        <a:rPr sz="1200" b="1">
                          <a:solidFill>
                            <a:srgbClr val="22D3EE"/>
                          </a:solidFill>
                          <a:latin typeface="Calibri"/>
                        </a:rPr>
                        <a:t>Productos</a:t>
                      </a:r>
                    </a:p>
                  </a:txBody>
                  <a:tcPr>
                    <a:solidFill>
                      <a:srgbClr val="0D0F1E"/>
                    </a:solidFill>
                  </a:tcPr>
                </a:tc>
                <a:tc>
                  <a:txBody>
                    <a:bodyPr/>
                    <a:lstStyle/>
                    <a:p>
                      <a:pPr>
                        <a:buNone/>
                      </a:pPr>
                      <a:r>
                        <a:rPr sz="1200" b="1">
                          <a:solidFill>
                            <a:srgbClr val="22D3EE"/>
                          </a:solidFill>
                          <a:latin typeface="Calibri"/>
                        </a:rPr>
                        <a:t>Plazos</a:t>
                      </a:r>
                    </a:p>
                  </a:txBody>
                  <a:tcPr>
                    <a:solidFill>
                      <a:srgbClr val="0D0F1E"/>
                    </a:solidFill>
                  </a:tcPr>
                </a:tc>
                <a:tc>
                  <a:txBody>
                    <a:bodyPr/>
                    <a:lstStyle/>
                    <a:p>
                      <a:pPr>
                        <a:buNone/>
                      </a:pPr>
                      <a:r>
                        <a:rPr sz="1200" b="1">
                          <a:solidFill>
                            <a:srgbClr val="22D3EE"/>
                          </a:solidFill>
                          <a:latin typeface="Calibri"/>
                        </a:rPr>
                        <a:t>Responsable(s)</a:t>
                      </a:r>
                    </a:p>
                  </a:txBody>
                  <a:tcPr>
                    <a:solidFill>
                      <a:srgbClr val="0D0F1E"/>
                    </a:solidFill>
                  </a:tcPr>
                </a:tc>
                <a:tc>
                  <a:txBody>
                    <a:bodyPr/>
                    <a:lstStyle/>
                    <a:p>
                      <a:pPr>
                        <a:buNone/>
                      </a:pPr>
                      <a:r>
                        <a:rPr sz="1200" b="1">
                          <a:solidFill>
                            <a:srgbClr val="22D3EE"/>
                          </a:solidFill>
                          <a:latin typeface="Calibri"/>
                        </a:rPr>
                        <a:t>Insumos</a:t>
                      </a:r>
                    </a:p>
                  </a:txBody>
                  <a:tcPr>
                    <a:solidFill>
                      <a:srgbClr val="0D0F1E"/>
                    </a:solidFill>
                  </a:tcPr>
                </a:tc>
                <a:extLst>
                  <a:ext uri="{0D108BD9-81ED-4DB2-BD59-A6C34878D82A}">
                    <a16:rowId xmlns:a16="http://schemas.microsoft.com/office/drawing/2014/main" val="10000"/>
                  </a:ext>
                </a:extLst>
              </a:tr>
              <a:tr h="514285">
                <a:tc>
                  <a:txBody>
                    <a:bodyPr/>
                    <a:lstStyle/>
                    <a:p>
                      <a:pPr>
                        <a:buNone/>
                      </a:pPr>
                      <a:r>
                        <a:rPr sz="1100">
                          <a:solidFill>
                            <a:srgbClr val="94A3B8"/>
                          </a:solidFill>
                          <a:latin typeface="Calibri"/>
                        </a:rPr>
                        <a:t>Definir problema y objetivos</a:t>
                      </a:r>
                    </a:p>
                  </a:txBody>
                  <a:tcPr>
                    <a:solidFill>
                      <a:srgbClr val="050611"/>
                    </a:solidFill>
                  </a:tcPr>
                </a:tc>
                <a:tc>
                  <a:txBody>
                    <a:bodyPr/>
                    <a:lstStyle/>
                    <a:p>
                      <a:pPr>
                        <a:buNone/>
                      </a:pPr>
                      <a:r>
                        <a:rPr sz="1100">
                          <a:solidFill>
                            <a:srgbClr val="94A3B8"/>
                          </a:solidFill>
                          <a:latin typeface="Calibri"/>
                        </a:rPr>
                        <a:t>Problemática y objetivos definidos</a:t>
                      </a:r>
                    </a:p>
                  </a:txBody>
                  <a:tcPr>
                    <a:solidFill>
                      <a:srgbClr val="050611"/>
                    </a:solidFill>
                  </a:tcPr>
                </a:tc>
                <a:tc>
                  <a:txBody>
                    <a:bodyPr/>
                    <a:lstStyle/>
                    <a:p>
                      <a:pPr>
                        <a:buNone/>
                      </a:pPr>
                      <a:r>
                        <a:rPr sz="1100">
                          <a:solidFill>
                            <a:srgbClr val="5EEAD4"/>
                          </a:solidFill>
                          <a:latin typeface="Calibri"/>
                        </a:rPr>
                        <a:t>7 julio</a:t>
                      </a:r>
                    </a:p>
                  </a:txBody>
                  <a:tcPr>
                    <a:solidFill>
                      <a:srgbClr val="050611"/>
                    </a:solidFill>
                  </a:tcPr>
                </a:tc>
                <a:tc>
                  <a:txBody>
                    <a:bodyPr/>
                    <a:lstStyle/>
                    <a:p>
                      <a:pPr>
                        <a:buNone/>
                      </a:pPr>
                      <a:r>
                        <a:rPr sz="1100">
                          <a:solidFill>
                            <a:srgbClr val="94A3B8"/>
                          </a:solidFill>
                          <a:latin typeface="Calibri"/>
                        </a:rPr>
                        <a:t>Andrés Carrasco</a:t>
                      </a:r>
                    </a:p>
                  </a:txBody>
                  <a:tcPr>
                    <a:solidFill>
                      <a:srgbClr val="050611"/>
                    </a:solidFill>
                  </a:tcPr>
                </a:tc>
                <a:tc>
                  <a:txBody>
                    <a:bodyPr/>
                    <a:lstStyle/>
                    <a:p>
                      <a:pPr>
                        <a:buNone/>
                      </a:pPr>
                      <a:r>
                        <a:rPr sz="1100">
                          <a:solidFill>
                            <a:srgbClr val="94A3B8"/>
                          </a:solidFill>
                          <a:latin typeface="Calibri"/>
                        </a:rPr>
                        <a:t>Apuntes de Cálculo Unidad 3</a:t>
                      </a:r>
                    </a:p>
                  </a:txBody>
                  <a:tcPr>
                    <a:solidFill>
                      <a:srgbClr val="050611"/>
                    </a:solidFill>
                  </a:tcPr>
                </a:tc>
                <a:extLst>
                  <a:ext uri="{0D108BD9-81ED-4DB2-BD59-A6C34878D82A}">
                    <a16:rowId xmlns:a16="http://schemas.microsoft.com/office/drawing/2014/main" val="10001"/>
                  </a:ext>
                </a:extLst>
              </a:tr>
              <a:tr h="514285">
                <a:tc>
                  <a:txBody>
                    <a:bodyPr/>
                    <a:lstStyle/>
                    <a:p>
                      <a:pPr>
                        <a:buNone/>
                      </a:pPr>
                      <a:r>
                        <a:rPr sz="1100">
                          <a:solidFill>
                            <a:srgbClr val="94A3B8"/>
                          </a:solidFill>
                          <a:latin typeface="Calibri"/>
                        </a:rPr>
                        <a:t>Investigar costos reales de proveedores cloud y modelar C(x)</a:t>
                      </a:r>
                    </a:p>
                  </a:txBody>
                  <a:tcPr>
                    <a:solidFill>
                      <a:srgbClr val="050611"/>
                    </a:solidFill>
                  </a:tcPr>
                </a:tc>
                <a:tc>
                  <a:txBody>
                    <a:bodyPr/>
                    <a:lstStyle/>
                    <a:p>
                      <a:pPr>
                        <a:buNone/>
                      </a:pPr>
                      <a:r>
                        <a:rPr sz="1100">
                          <a:solidFill>
                            <a:srgbClr val="94A3B8"/>
                          </a:solidFill>
                          <a:latin typeface="Calibri"/>
                        </a:rPr>
                        <a:t>Función de costo C(x) planteada</a:t>
                      </a:r>
                    </a:p>
                  </a:txBody>
                  <a:tcPr>
                    <a:solidFill>
                      <a:srgbClr val="050611"/>
                    </a:solidFill>
                  </a:tcPr>
                </a:tc>
                <a:tc>
                  <a:txBody>
                    <a:bodyPr/>
                    <a:lstStyle/>
                    <a:p>
                      <a:pPr>
                        <a:buNone/>
                      </a:pPr>
                      <a:r>
                        <a:rPr sz="1100">
                          <a:solidFill>
                            <a:srgbClr val="5EEAD4"/>
                          </a:solidFill>
                          <a:latin typeface="Calibri"/>
                        </a:rPr>
                        <a:t>9 julio</a:t>
                      </a:r>
                    </a:p>
                  </a:txBody>
                  <a:tcPr>
                    <a:solidFill>
                      <a:srgbClr val="050611"/>
                    </a:solidFill>
                  </a:tcPr>
                </a:tc>
                <a:tc>
                  <a:txBody>
                    <a:bodyPr/>
                    <a:lstStyle/>
                    <a:p>
                      <a:pPr>
                        <a:buNone/>
                      </a:pPr>
                      <a:r>
                        <a:rPr sz="1100">
                          <a:solidFill>
                            <a:srgbClr val="94A3B8"/>
                          </a:solidFill>
                          <a:latin typeface="Calibri"/>
                        </a:rPr>
                        <a:t>Andrés Carrasco</a:t>
                      </a:r>
                    </a:p>
                  </a:txBody>
                  <a:tcPr>
                    <a:solidFill>
                      <a:srgbClr val="050611"/>
                    </a:solidFill>
                  </a:tcPr>
                </a:tc>
                <a:tc>
                  <a:txBody>
                    <a:bodyPr/>
                    <a:lstStyle/>
                    <a:p>
                      <a:pPr>
                        <a:buNone/>
                      </a:pPr>
                      <a:r>
                        <a:rPr sz="1100">
                          <a:solidFill>
                            <a:srgbClr val="94A3B8"/>
                          </a:solidFill>
                          <a:latin typeface="Calibri"/>
                        </a:rPr>
                        <a:t>Documentación de precios AWS/Azure</a:t>
                      </a:r>
                    </a:p>
                  </a:txBody>
                  <a:tcPr>
                    <a:solidFill>
                      <a:srgbClr val="050611"/>
                    </a:solidFill>
                  </a:tcPr>
                </a:tc>
                <a:extLst>
                  <a:ext uri="{0D108BD9-81ED-4DB2-BD59-A6C34878D82A}">
                    <a16:rowId xmlns:a16="http://schemas.microsoft.com/office/drawing/2014/main" val="10002"/>
                  </a:ext>
                </a:extLst>
              </a:tr>
              <a:tr h="514285">
                <a:tc>
                  <a:txBody>
                    <a:bodyPr/>
                    <a:lstStyle/>
                    <a:p>
                      <a:pPr>
                        <a:buNone/>
                      </a:pPr>
                      <a:r>
                        <a:rPr sz="1100">
                          <a:solidFill>
                            <a:srgbClr val="94A3B8"/>
                          </a:solidFill>
                          <a:latin typeface="Calibri"/>
                        </a:rPr>
                        <a:t>Aplicar la derivada, hallar el punto óptimo y construir el simulador</a:t>
                      </a:r>
                    </a:p>
                  </a:txBody>
                  <a:tcPr>
                    <a:solidFill>
                      <a:srgbClr val="050611"/>
                    </a:solidFill>
                  </a:tcPr>
                </a:tc>
                <a:tc>
                  <a:txBody>
                    <a:bodyPr/>
                    <a:lstStyle/>
                    <a:p>
                      <a:pPr>
                        <a:buNone/>
                      </a:pPr>
                      <a:r>
                        <a:rPr sz="1100">
                          <a:solidFill>
                            <a:srgbClr val="94A3B8"/>
                          </a:solidFill>
                          <a:latin typeface="Calibri"/>
                        </a:rPr>
                        <a:t>C'(x), punto crítico x=20 y simulador web</a:t>
                      </a:r>
                    </a:p>
                  </a:txBody>
                  <a:tcPr>
                    <a:solidFill>
                      <a:srgbClr val="050611"/>
                    </a:solidFill>
                  </a:tcPr>
                </a:tc>
                <a:tc>
                  <a:txBody>
                    <a:bodyPr/>
                    <a:lstStyle/>
                    <a:p>
                      <a:pPr>
                        <a:buNone/>
                      </a:pPr>
                      <a:r>
                        <a:rPr sz="1100">
                          <a:solidFill>
                            <a:srgbClr val="5EEAD4"/>
                          </a:solidFill>
                          <a:latin typeface="Calibri"/>
                        </a:rPr>
                        <a:t>14 julio</a:t>
                      </a:r>
                    </a:p>
                  </a:txBody>
                  <a:tcPr>
                    <a:solidFill>
                      <a:srgbClr val="050611"/>
                    </a:solidFill>
                  </a:tcPr>
                </a:tc>
                <a:tc>
                  <a:txBody>
                    <a:bodyPr/>
                    <a:lstStyle/>
                    <a:p>
                      <a:pPr>
                        <a:buNone/>
                      </a:pPr>
                      <a:r>
                        <a:rPr sz="1100">
                          <a:solidFill>
                            <a:srgbClr val="94A3B8"/>
                          </a:solidFill>
                          <a:latin typeface="Calibri"/>
                        </a:rPr>
                        <a:t>Andrés Carrasco</a:t>
                      </a:r>
                    </a:p>
                  </a:txBody>
                  <a:tcPr>
                    <a:solidFill>
                      <a:srgbClr val="050611"/>
                    </a:solidFill>
                  </a:tcPr>
                </a:tc>
                <a:tc>
                  <a:txBody>
                    <a:bodyPr/>
                    <a:lstStyle/>
                    <a:p>
                      <a:pPr>
                        <a:buNone/>
                      </a:pPr>
                      <a:r>
                        <a:rPr sz="1100">
                          <a:solidFill>
                            <a:srgbClr val="94A3B8"/>
                          </a:solidFill>
                          <a:latin typeface="Calibri"/>
                        </a:rPr>
                        <a:t>Plotly.js, HTML/CSS/JS</a:t>
                      </a:r>
                    </a:p>
                  </a:txBody>
                  <a:tcPr>
                    <a:solidFill>
                      <a:srgbClr val="050611"/>
                    </a:solidFill>
                  </a:tcPr>
                </a:tc>
                <a:extLst>
                  <a:ext uri="{0D108BD9-81ED-4DB2-BD59-A6C34878D82A}">
                    <a16:rowId xmlns:a16="http://schemas.microsoft.com/office/drawing/2014/main" val="10003"/>
                  </a:ext>
                </a:extLst>
              </a:tr>
              <a:tr h="514285">
                <a:tc>
                  <a:txBody>
                    <a:bodyPr/>
                    <a:lstStyle/>
                    <a:p>
                      <a:pPr>
                        <a:buNone/>
                      </a:pPr>
                      <a:r>
                        <a:rPr sz="1100">
                          <a:solidFill>
                            <a:srgbClr val="94A3B8"/>
                          </a:solidFill>
                          <a:latin typeface="Calibri"/>
                        </a:rPr>
                        <a:t>Elaborar PPT y grabar el video de presentación</a:t>
                      </a:r>
                    </a:p>
                  </a:txBody>
                  <a:tcPr>
                    <a:solidFill>
                      <a:srgbClr val="050611"/>
                    </a:solidFill>
                  </a:tcPr>
                </a:tc>
                <a:tc>
                  <a:txBody>
                    <a:bodyPr/>
                    <a:lstStyle/>
                    <a:p>
                      <a:pPr>
                        <a:buNone/>
                      </a:pPr>
                      <a:r>
                        <a:rPr sz="1100">
                          <a:solidFill>
                            <a:srgbClr val="94A3B8"/>
                          </a:solidFill>
                          <a:latin typeface="Calibri"/>
                        </a:rPr>
                        <a:t>PPT + video con guion</a:t>
                      </a:r>
                    </a:p>
                  </a:txBody>
                  <a:tcPr>
                    <a:solidFill>
                      <a:srgbClr val="050611"/>
                    </a:solidFill>
                  </a:tcPr>
                </a:tc>
                <a:tc>
                  <a:txBody>
                    <a:bodyPr/>
                    <a:lstStyle/>
                    <a:p>
                      <a:pPr>
                        <a:buNone/>
                      </a:pPr>
                      <a:r>
                        <a:rPr sz="1100">
                          <a:solidFill>
                            <a:srgbClr val="5EEAD4"/>
                          </a:solidFill>
                          <a:latin typeface="Calibri"/>
                        </a:rPr>
                        <a:t>14-20 julio</a:t>
                      </a:r>
                    </a:p>
                  </a:txBody>
                  <a:tcPr>
                    <a:solidFill>
                      <a:srgbClr val="050611"/>
                    </a:solidFill>
                  </a:tcPr>
                </a:tc>
                <a:tc>
                  <a:txBody>
                    <a:bodyPr/>
                    <a:lstStyle/>
                    <a:p>
                      <a:pPr>
                        <a:buNone/>
                      </a:pPr>
                      <a:r>
                        <a:rPr sz="1100">
                          <a:solidFill>
                            <a:srgbClr val="94A3B8"/>
                          </a:solidFill>
                          <a:latin typeface="Calibri"/>
                        </a:rPr>
                        <a:t>Andrés Carrasco</a:t>
                      </a:r>
                    </a:p>
                  </a:txBody>
                  <a:tcPr>
                    <a:solidFill>
                      <a:srgbClr val="050611"/>
                    </a:solidFill>
                  </a:tcPr>
                </a:tc>
                <a:tc>
                  <a:txBody>
                    <a:bodyPr/>
                    <a:lstStyle/>
                    <a:p>
                      <a:pPr>
                        <a:buNone/>
                      </a:pPr>
                      <a:r>
                        <a:rPr sz="1100">
                          <a:solidFill>
                            <a:srgbClr val="94A3B8"/>
                          </a:solidFill>
                          <a:latin typeface="Calibri"/>
                        </a:rPr>
                        <a:t>Guion, grabadora de audio, ffmpeg</a:t>
                      </a:r>
                    </a:p>
                  </a:txBody>
                  <a:tcPr>
                    <a:solidFill>
                      <a:srgbClr val="050611"/>
                    </a:solidFill>
                  </a:tcPr>
                </a:tc>
                <a:extLst>
                  <a:ext uri="{0D108BD9-81ED-4DB2-BD59-A6C34878D82A}">
                    <a16:rowId xmlns:a16="http://schemas.microsoft.com/office/drawing/2014/main" val="10004"/>
                  </a:ext>
                </a:extLst>
              </a:tr>
              <a:tr h="514285">
                <a:tc>
                  <a:txBody>
                    <a:bodyPr/>
                    <a:lstStyle/>
                    <a:p>
                      <a:pPr>
                        <a:buNone/>
                      </a:pPr>
                      <a:r>
                        <a:rPr sz="1100">
                          <a:solidFill>
                            <a:srgbClr val="94A3B8"/>
                          </a:solidFill>
                          <a:latin typeface="Calibri"/>
                        </a:rPr>
                        <a:t>Revisión final y entrega</a:t>
                      </a:r>
                    </a:p>
                  </a:txBody>
                  <a:tcPr>
                    <a:solidFill>
                      <a:srgbClr val="050611"/>
                    </a:solidFill>
                  </a:tcPr>
                </a:tc>
                <a:tc>
                  <a:txBody>
                    <a:bodyPr/>
                    <a:lstStyle/>
                    <a:p>
                      <a:pPr>
                        <a:buNone/>
                      </a:pPr>
                      <a:r>
                        <a:rPr sz="1100">
                          <a:solidFill>
                            <a:srgbClr val="94A3B8"/>
                          </a:solidFill>
                          <a:latin typeface="Calibri"/>
                        </a:rPr>
                        <a:t>Proyecto completo entregado</a:t>
                      </a:r>
                    </a:p>
                  </a:txBody>
                  <a:tcPr>
                    <a:solidFill>
                      <a:srgbClr val="050611"/>
                    </a:solidFill>
                  </a:tcPr>
                </a:tc>
                <a:tc>
                  <a:txBody>
                    <a:bodyPr/>
                    <a:lstStyle/>
                    <a:p>
                      <a:pPr>
                        <a:buNone/>
                      </a:pPr>
                      <a:r>
                        <a:rPr sz="1100">
                          <a:solidFill>
                            <a:srgbClr val="5EEAD4"/>
                          </a:solidFill>
                          <a:latin typeface="Calibri"/>
                        </a:rPr>
                        <a:t>21 julio</a:t>
                      </a:r>
                    </a:p>
                  </a:txBody>
                  <a:tcPr>
                    <a:solidFill>
                      <a:srgbClr val="050611"/>
                    </a:solidFill>
                  </a:tcPr>
                </a:tc>
                <a:tc>
                  <a:txBody>
                    <a:bodyPr/>
                    <a:lstStyle/>
                    <a:p>
                      <a:pPr>
                        <a:buNone/>
                      </a:pPr>
                      <a:r>
                        <a:rPr sz="1100">
                          <a:solidFill>
                            <a:srgbClr val="94A3B8"/>
                          </a:solidFill>
                          <a:latin typeface="Calibri"/>
                        </a:rPr>
                        <a:t>Andrés Carrasco</a:t>
                      </a:r>
                    </a:p>
                  </a:txBody>
                  <a:tcPr>
                    <a:solidFill>
                      <a:srgbClr val="050611"/>
                    </a:solidFill>
                  </a:tcPr>
                </a:tc>
                <a:tc>
                  <a:txBody>
                    <a:bodyPr/>
                    <a:lstStyle/>
                    <a:p>
                      <a:pPr>
                        <a:buNone/>
                      </a:pPr>
                      <a:r>
                        <a:rPr sz="1100">
                          <a:solidFill>
                            <a:srgbClr val="94A3B8"/>
                          </a:solidFill>
                          <a:latin typeface="Calibri"/>
                        </a:rPr>
                        <a:t>Sitio web publicado en Vercel</a:t>
                      </a:r>
                    </a:p>
                  </a:txBody>
                  <a:tcPr>
                    <a:solidFill>
                      <a:srgbClr val="050611"/>
                    </a:solidFill>
                  </a:tcPr>
                </a:tc>
                <a:extLst>
                  <a:ext uri="{0D108BD9-81ED-4DB2-BD59-A6C34878D82A}">
                    <a16:rowId xmlns:a16="http://schemas.microsoft.com/office/drawing/2014/main" val="10005"/>
                  </a:ext>
                </a:extLst>
              </a:tr>
            </a:tbl>
          </a:graphicData>
        </a:graphic>
      </p:graphicFrame>
      <p:sp>
        <p:nvSpPr>
          <p:cNvPr id="4" name="Rectangle 3"/>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5002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5E65635-1B2E-6ECE-15B8-2D978D4E3BEB}"/>
              </a:ext>
            </a:extLst>
          </p:cNvPr>
          <p:cNvSpPr txBox="1"/>
          <p:nvPr/>
        </p:nvSpPr>
        <p:spPr>
          <a:xfrm>
            <a:off x="838200" y="365125"/>
            <a:ext cx="10515600" cy="6192875"/>
          </a:xfrm>
          <a:prstGeom prst="rect">
            <a:avLst/>
          </a:prstGeom>
          <a:noFill/>
        </p:spPr>
        <p:txBody>
          <a:bodyPr wrap="square" rtlCol="0">
            <a:noAutofit/>
          </a:bodyPr>
          <a:lstStyle/>
          <a:p>
            <a:pPr>
              <a:spcAft>
                <a:spcPts val="1400"/>
              </a:spcAft>
              <a:buNone/>
            </a:pPr>
            <a:r>
              <a:rPr sz="2600" b="1" dirty="0" err="1">
                <a:solidFill>
                  <a:srgbClr val="22D3EE"/>
                </a:solidFill>
                <a:latin typeface="Calibri"/>
              </a:rPr>
              <a:t>Justificación</a:t>
            </a:r>
            <a:r>
              <a:rPr sz="2600" b="1" dirty="0">
                <a:solidFill>
                  <a:srgbClr val="22D3EE"/>
                </a:solidFill>
                <a:latin typeface="Calibri"/>
              </a:rPr>
              <a:t> de </a:t>
            </a:r>
            <a:r>
              <a:rPr sz="2600" b="1" dirty="0" err="1">
                <a:solidFill>
                  <a:srgbClr val="22D3EE"/>
                </a:solidFill>
                <a:latin typeface="Calibri"/>
              </a:rPr>
              <a:t>herramientas</a:t>
            </a:r>
            <a:r>
              <a:rPr sz="2600" b="1" dirty="0">
                <a:solidFill>
                  <a:srgbClr val="22D3EE"/>
                </a:solidFill>
                <a:latin typeface="Calibri"/>
              </a:rPr>
              <a:t> </a:t>
            </a:r>
            <a:r>
              <a:rPr sz="2600" b="1" dirty="0" err="1">
                <a:solidFill>
                  <a:srgbClr val="22D3EE"/>
                </a:solidFill>
                <a:latin typeface="Calibri"/>
              </a:rPr>
              <a:t>tecnológicas</a:t>
            </a:r>
            <a:endParaRPr lang="es-CL" sz="1800" dirty="0">
              <a:effectLst/>
              <a:latin typeface="Calibri" panose="020F0502020204030204" pitchFamily="34" charset="0"/>
              <a:ea typeface="Calibri" panose="020F0502020204030204" pitchFamily="34" charset="0"/>
            </a:endParaRP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Se </a:t>
            </a:r>
            <a:r>
              <a:rPr sz="1800" dirty="0" err="1">
                <a:solidFill>
                  <a:srgbClr val="E6EBF5"/>
                </a:solidFill>
                <a:latin typeface="Calibri"/>
              </a:rPr>
              <a:t>utilizó</a:t>
            </a:r>
            <a:r>
              <a:rPr sz="1800" dirty="0">
                <a:solidFill>
                  <a:srgbClr val="E6EBF5"/>
                </a:solidFill>
                <a:latin typeface="Calibri"/>
              </a:rPr>
              <a:t> un </a:t>
            </a:r>
            <a:r>
              <a:rPr sz="1800" dirty="0" err="1">
                <a:solidFill>
                  <a:srgbClr val="E6EBF5"/>
                </a:solidFill>
                <a:latin typeface="Calibri"/>
              </a:rPr>
              <a:t>simulador</a:t>
            </a:r>
            <a:r>
              <a:rPr sz="1800" dirty="0">
                <a:solidFill>
                  <a:srgbClr val="E6EBF5"/>
                </a:solidFill>
                <a:latin typeface="Calibri"/>
              </a:rPr>
              <a:t> web </a:t>
            </a:r>
            <a:r>
              <a:rPr sz="1800" dirty="0" err="1">
                <a:solidFill>
                  <a:srgbClr val="E6EBF5"/>
                </a:solidFill>
                <a:latin typeface="Calibri"/>
              </a:rPr>
              <a:t>interactivo</a:t>
            </a:r>
            <a:r>
              <a:rPr sz="1800" dirty="0">
                <a:solidFill>
                  <a:srgbClr val="E6EBF5"/>
                </a:solidFill>
                <a:latin typeface="Calibri"/>
              </a:rPr>
              <a:t> (HTML, CSS, JavaScript y la </a:t>
            </a:r>
            <a:r>
              <a:rPr sz="1800" dirty="0" err="1">
                <a:solidFill>
                  <a:srgbClr val="E6EBF5"/>
                </a:solidFill>
                <a:latin typeface="Calibri"/>
              </a:rPr>
              <a:t>librería</a:t>
            </a:r>
            <a:r>
              <a:rPr sz="1800" dirty="0">
                <a:solidFill>
                  <a:srgbClr val="E6EBF5"/>
                </a:solidFill>
                <a:latin typeface="Calibri"/>
              </a:rPr>
              <a:t> </a:t>
            </a:r>
            <a:r>
              <a:rPr sz="1800" dirty="0" err="1">
                <a:solidFill>
                  <a:srgbClr val="E6EBF5"/>
                </a:solidFill>
                <a:latin typeface="Calibri"/>
              </a:rPr>
              <a:t>Plotly.js</a:t>
            </a:r>
            <a:r>
              <a:rPr sz="1800" dirty="0">
                <a:solidFill>
                  <a:srgbClr val="E6EBF5"/>
                </a:solidFill>
                <a:latin typeface="Calibri"/>
              </a:rPr>
              <a:t>) en </a:t>
            </a:r>
            <a:r>
              <a:rPr sz="1800" dirty="0" err="1">
                <a:solidFill>
                  <a:srgbClr val="E6EBF5"/>
                </a:solidFill>
                <a:latin typeface="Calibri"/>
              </a:rPr>
              <a:t>lugar</a:t>
            </a:r>
            <a:r>
              <a:rPr sz="1800" dirty="0">
                <a:solidFill>
                  <a:srgbClr val="E6EBF5"/>
                </a:solidFill>
                <a:latin typeface="Calibri"/>
              </a:rPr>
              <a:t> de solo </a:t>
            </a:r>
            <a:r>
              <a:rPr sz="1800" dirty="0" err="1">
                <a:solidFill>
                  <a:srgbClr val="E6EBF5"/>
                </a:solidFill>
                <a:latin typeface="Calibri"/>
              </a:rPr>
              <a:t>cálculos</a:t>
            </a:r>
            <a:r>
              <a:rPr sz="1800" dirty="0">
                <a:solidFill>
                  <a:srgbClr val="E6EBF5"/>
                </a:solidFill>
                <a:latin typeface="Calibri"/>
              </a:rPr>
              <a:t> </a:t>
            </a:r>
            <a:r>
              <a:rPr sz="1800" dirty="0" err="1">
                <a:solidFill>
                  <a:srgbClr val="E6EBF5"/>
                </a:solidFill>
                <a:latin typeface="Calibri"/>
              </a:rPr>
              <a:t>manuales</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Permite</a:t>
            </a:r>
            <a:r>
              <a:rPr sz="1800" dirty="0">
                <a:solidFill>
                  <a:srgbClr val="E6EBF5"/>
                </a:solidFill>
                <a:latin typeface="Calibri"/>
              </a:rPr>
              <a:t> </a:t>
            </a:r>
            <a:r>
              <a:rPr sz="1800" dirty="0" err="1">
                <a:solidFill>
                  <a:srgbClr val="E6EBF5"/>
                </a:solidFill>
                <a:latin typeface="Calibri"/>
              </a:rPr>
              <a:t>visualizar</a:t>
            </a:r>
            <a:r>
              <a:rPr sz="1800" dirty="0">
                <a:solidFill>
                  <a:srgbClr val="E6EBF5"/>
                </a:solidFill>
                <a:latin typeface="Calibri"/>
              </a:rPr>
              <a:t> en </a:t>
            </a:r>
            <a:r>
              <a:rPr sz="1800" dirty="0" err="1">
                <a:solidFill>
                  <a:srgbClr val="E6EBF5"/>
                </a:solidFill>
                <a:latin typeface="Calibri"/>
              </a:rPr>
              <a:t>tiempo</a:t>
            </a:r>
            <a:r>
              <a:rPr sz="1800" dirty="0">
                <a:solidFill>
                  <a:srgbClr val="E6EBF5"/>
                </a:solidFill>
                <a:latin typeface="Calibri"/>
              </a:rPr>
              <a:t> real la curva de </a:t>
            </a:r>
            <a:r>
              <a:rPr sz="1800" dirty="0" err="1">
                <a:solidFill>
                  <a:srgbClr val="E6EBF5"/>
                </a:solidFill>
                <a:latin typeface="Calibri"/>
              </a:rPr>
              <a:t>costo</a:t>
            </a:r>
            <a:r>
              <a:rPr sz="1800" dirty="0">
                <a:solidFill>
                  <a:srgbClr val="E6EBF5"/>
                </a:solidFill>
                <a:latin typeface="Calibri"/>
              </a:rPr>
              <a:t> C(x) y </a:t>
            </a:r>
            <a:r>
              <a:rPr sz="1800" dirty="0" err="1">
                <a:solidFill>
                  <a:srgbClr val="E6EBF5"/>
                </a:solidFill>
                <a:latin typeface="Calibri"/>
              </a:rPr>
              <a:t>su</a:t>
            </a:r>
            <a:r>
              <a:rPr sz="1800" dirty="0">
                <a:solidFill>
                  <a:srgbClr val="E6EBF5"/>
                </a:solidFill>
                <a:latin typeface="Calibri"/>
              </a:rPr>
              <a:t> </a:t>
            </a:r>
            <a:r>
              <a:rPr sz="1800" dirty="0" err="1">
                <a:solidFill>
                  <a:srgbClr val="E6EBF5"/>
                </a:solidFill>
                <a:latin typeface="Calibri"/>
              </a:rPr>
              <a:t>derivada</a:t>
            </a:r>
            <a:r>
              <a:rPr sz="1800" dirty="0">
                <a:solidFill>
                  <a:srgbClr val="E6EBF5"/>
                </a:solidFill>
                <a:latin typeface="Calibri"/>
              </a:rPr>
              <a:t> C'(x), y </a:t>
            </a:r>
            <a:r>
              <a:rPr sz="1800" dirty="0" err="1">
                <a:solidFill>
                  <a:srgbClr val="E6EBF5"/>
                </a:solidFill>
                <a:latin typeface="Calibri"/>
              </a:rPr>
              <a:t>modificar</a:t>
            </a:r>
            <a:r>
              <a:rPr sz="1800" dirty="0">
                <a:solidFill>
                  <a:srgbClr val="E6EBF5"/>
                </a:solidFill>
                <a:latin typeface="Calibri"/>
              </a:rPr>
              <a:t> </a:t>
            </a:r>
            <a:r>
              <a:rPr sz="1800" dirty="0" err="1">
                <a:solidFill>
                  <a:srgbClr val="E6EBF5"/>
                </a:solidFill>
                <a:latin typeface="Calibri"/>
              </a:rPr>
              <a:t>parámetros</a:t>
            </a:r>
            <a:r>
              <a:rPr sz="1800" dirty="0">
                <a:solidFill>
                  <a:srgbClr val="E6EBF5"/>
                </a:solidFill>
                <a:latin typeface="Calibri"/>
              </a:rPr>
              <a:t> del </a:t>
            </a:r>
            <a:r>
              <a:rPr sz="1800" dirty="0" err="1">
                <a:solidFill>
                  <a:srgbClr val="E6EBF5"/>
                </a:solidFill>
                <a:latin typeface="Calibri"/>
              </a:rPr>
              <a:t>modelo</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Facilita</a:t>
            </a:r>
            <a:r>
              <a:rPr sz="1800" dirty="0">
                <a:solidFill>
                  <a:srgbClr val="E6EBF5"/>
                </a:solidFill>
                <a:latin typeface="Calibri"/>
              </a:rPr>
              <a:t> </a:t>
            </a:r>
            <a:r>
              <a:rPr sz="1800" dirty="0" err="1">
                <a:solidFill>
                  <a:srgbClr val="E6EBF5"/>
                </a:solidFill>
                <a:latin typeface="Calibri"/>
              </a:rPr>
              <a:t>comprender</a:t>
            </a:r>
            <a:r>
              <a:rPr sz="1800" dirty="0">
                <a:solidFill>
                  <a:srgbClr val="E6EBF5"/>
                </a:solidFill>
                <a:latin typeface="Calibri"/>
              </a:rPr>
              <a:t> de forma visual el </a:t>
            </a:r>
            <a:r>
              <a:rPr sz="1800" dirty="0" err="1">
                <a:solidFill>
                  <a:srgbClr val="E6EBF5"/>
                </a:solidFill>
                <a:latin typeface="Calibri"/>
              </a:rPr>
              <a:t>concepto</a:t>
            </a:r>
            <a:r>
              <a:rPr sz="1800" dirty="0">
                <a:solidFill>
                  <a:srgbClr val="E6EBF5"/>
                </a:solidFill>
                <a:latin typeface="Calibri"/>
              </a:rPr>
              <a:t> de punto </a:t>
            </a:r>
            <a:r>
              <a:rPr sz="1800" dirty="0" err="1">
                <a:solidFill>
                  <a:srgbClr val="E6EBF5"/>
                </a:solidFill>
                <a:latin typeface="Calibri"/>
              </a:rPr>
              <a:t>crítico</a:t>
            </a:r>
            <a:r>
              <a:rPr sz="1800" dirty="0">
                <a:solidFill>
                  <a:srgbClr val="E6EBF5"/>
                </a:solidFill>
                <a:latin typeface="Calibri"/>
              </a:rPr>
              <a:t> y </a:t>
            </a:r>
            <a:r>
              <a:rPr sz="1800" dirty="0" err="1">
                <a:solidFill>
                  <a:srgbClr val="E6EBF5"/>
                </a:solidFill>
                <a:latin typeface="Calibri"/>
              </a:rPr>
              <a:t>optimización</a:t>
            </a:r>
            <a:r>
              <a:rPr sz="1800" dirty="0">
                <a:solidFill>
                  <a:srgbClr val="E6EBF5"/>
                </a:solidFill>
                <a:latin typeface="Calibri"/>
              </a:rPr>
              <a:t>, algo </a:t>
            </a:r>
            <a:r>
              <a:rPr sz="1800" dirty="0" err="1">
                <a:solidFill>
                  <a:srgbClr val="E6EBF5"/>
                </a:solidFill>
                <a:latin typeface="Calibri"/>
              </a:rPr>
              <a:t>difícil</a:t>
            </a:r>
            <a:r>
              <a:rPr sz="1800" dirty="0">
                <a:solidFill>
                  <a:srgbClr val="E6EBF5"/>
                </a:solidFill>
                <a:latin typeface="Calibri"/>
              </a:rPr>
              <a:t> de </a:t>
            </a:r>
            <a:r>
              <a:rPr sz="1800" dirty="0" err="1">
                <a:solidFill>
                  <a:srgbClr val="E6EBF5"/>
                </a:solidFill>
                <a:latin typeface="Calibri"/>
              </a:rPr>
              <a:t>transmitir</a:t>
            </a:r>
            <a:r>
              <a:rPr sz="1800" dirty="0">
                <a:solidFill>
                  <a:srgbClr val="E6EBF5"/>
                </a:solidFill>
                <a:latin typeface="Calibri"/>
              </a:rPr>
              <a:t> solo con </a:t>
            </a:r>
            <a:r>
              <a:rPr sz="1800" dirty="0" err="1">
                <a:solidFill>
                  <a:srgbClr val="E6EBF5"/>
                </a:solidFill>
                <a:latin typeface="Calibri"/>
              </a:rPr>
              <a:t>álgebra</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El sitio se </a:t>
            </a:r>
            <a:r>
              <a:rPr sz="1800" dirty="0" err="1">
                <a:solidFill>
                  <a:srgbClr val="E6EBF5"/>
                </a:solidFill>
                <a:latin typeface="Calibri"/>
              </a:rPr>
              <a:t>publicó</a:t>
            </a:r>
            <a:r>
              <a:rPr sz="1800" dirty="0">
                <a:solidFill>
                  <a:srgbClr val="E6EBF5"/>
                </a:solidFill>
                <a:latin typeface="Calibri"/>
              </a:rPr>
              <a:t> en la </a:t>
            </a:r>
            <a:r>
              <a:rPr sz="1800" dirty="0" err="1">
                <a:solidFill>
                  <a:srgbClr val="E6EBF5"/>
                </a:solidFill>
                <a:latin typeface="Calibri"/>
              </a:rPr>
              <a:t>nube</a:t>
            </a:r>
            <a:r>
              <a:rPr sz="1800" dirty="0">
                <a:solidFill>
                  <a:srgbClr val="E6EBF5"/>
                </a:solidFill>
                <a:latin typeface="Calibri"/>
              </a:rPr>
              <a:t> (</a:t>
            </a:r>
            <a:r>
              <a:rPr sz="1800" dirty="0" err="1">
                <a:solidFill>
                  <a:srgbClr val="E6EBF5"/>
                </a:solidFill>
                <a:latin typeface="Calibri"/>
              </a:rPr>
              <a:t>Vercel</a:t>
            </a:r>
            <a:r>
              <a:rPr sz="1800" dirty="0">
                <a:solidFill>
                  <a:srgbClr val="E6EBF5"/>
                </a:solidFill>
                <a:latin typeface="Calibri"/>
              </a:rPr>
              <a:t>), </a:t>
            </a:r>
            <a:r>
              <a:rPr sz="1800" dirty="0" err="1">
                <a:solidFill>
                  <a:srgbClr val="E6EBF5"/>
                </a:solidFill>
                <a:latin typeface="Calibri"/>
              </a:rPr>
              <a:t>reforzando</a:t>
            </a:r>
            <a:r>
              <a:rPr sz="1800" dirty="0">
                <a:solidFill>
                  <a:srgbClr val="E6EBF5"/>
                </a:solidFill>
                <a:latin typeface="Calibri"/>
              </a:rPr>
              <a:t> la </a:t>
            </a:r>
            <a:r>
              <a:rPr sz="1800" dirty="0" err="1">
                <a:solidFill>
                  <a:srgbClr val="E6EBF5"/>
                </a:solidFill>
                <a:latin typeface="Calibri"/>
              </a:rPr>
              <a:t>coherencia</a:t>
            </a:r>
            <a:r>
              <a:rPr sz="1800" dirty="0">
                <a:solidFill>
                  <a:srgbClr val="E6EBF5"/>
                </a:solidFill>
                <a:latin typeface="Calibri"/>
              </a:rPr>
              <a:t> entre el </a:t>
            </a:r>
            <a:r>
              <a:rPr sz="1800" dirty="0" err="1">
                <a:solidFill>
                  <a:srgbClr val="E6EBF5"/>
                </a:solidFill>
                <a:latin typeface="Calibri"/>
              </a:rPr>
              <a:t>tema</a:t>
            </a:r>
            <a:r>
              <a:rPr sz="1800" dirty="0">
                <a:solidFill>
                  <a:srgbClr val="E6EBF5"/>
                </a:solidFill>
                <a:latin typeface="Calibri"/>
              </a:rPr>
              <a:t> del </a:t>
            </a:r>
            <a:r>
              <a:rPr sz="1800" dirty="0" err="1">
                <a:solidFill>
                  <a:srgbClr val="E6EBF5"/>
                </a:solidFill>
                <a:latin typeface="Calibri"/>
              </a:rPr>
              <a:t>proyecto</a:t>
            </a:r>
            <a:r>
              <a:rPr sz="1800" dirty="0">
                <a:solidFill>
                  <a:srgbClr val="E6EBF5"/>
                </a:solidFill>
                <a:latin typeface="Calibri"/>
              </a:rPr>
              <a:t> (</a:t>
            </a:r>
            <a:r>
              <a:rPr sz="1800" dirty="0" err="1">
                <a:solidFill>
                  <a:srgbClr val="E6EBF5"/>
                </a:solidFill>
                <a:latin typeface="Calibri"/>
              </a:rPr>
              <a:t>costos</a:t>
            </a:r>
            <a:r>
              <a:rPr sz="1800" dirty="0">
                <a:solidFill>
                  <a:srgbClr val="E6EBF5"/>
                </a:solidFill>
                <a:latin typeface="Calibri"/>
              </a:rPr>
              <a:t> cloud) y la </a:t>
            </a:r>
            <a:r>
              <a:rPr sz="1800" dirty="0" err="1">
                <a:solidFill>
                  <a:srgbClr val="E6EBF5"/>
                </a:solidFill>
                <a:latin typeface="Calibri"/>
              </a:rPr>
              <a:t>herramienta</a:t>
            </a:r>
            <a:r>
              <a:rPr sz="1800" dirty="0">
                <a:solidFill>
                  <a:srgbClr val="E6EBF5"/>
                </a:solidFill>
                <a:latin typeface="Calibri"/>
              </a:rPr>
              <a:t> </a:t>
            </a:r>
            <a:r>
              <a:rPr sz="1800" dirty="0" err="1">
                <a:solidFill>
                  <a:srgbClr val="E6EBF5"/>
                </a:solidFill>
                <a:latin typeface="Calibri"/>
              </a:rPr>
              <a:t>usada</a:t>
            </a:r>
            <a:r>
              <a:rPr sz="1800" dirty="0">
                <a:solidFill>
                  <a:srgbClr val="E6EBF5"/>
                </a:solidFill>
                <a:latin typeface="Calibri"/>
              </a:rPr>
              <a:t> para </a:t>
            </a:r>
            <a:r>
              <a:rPr sz="1800" dirty="0" err="1">
                <a:solidFill>
                  <a:srgbClr val="E6EBF5"/>
                </a:solidFill>
                <a:latin typeface="Calibri"/>
              </a:rPr>
              <a:t>exponerlo</a:t>
            </a:r>
            <a:r>
              <a:rPr sz="1800" dirty="0">
                <a:solidFill>
                  <a:srgbClr val="E6EBF5"/>
                </a:solidFill>
                <a:latin typeface="Calibri"/>
              </a:rPr>
              <a:t>.</a:t>
            </a:r>
          </a:p>
        </p:txBody>
      </p:sp>
      <p:sp>
        <p:nvSpPr>
          <p:cNvPr id="6" name="Rectangle 5"/>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84212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2E6CB4C-836C-BB79-7511-1BBB4C5B4620}"/>
              </a:ext>
            </a:extLst>
          </p:cNvPr>
          <p:cNvSpPr txBox="1"/>
          <p:nvPr/>
        </p:nvSpPr>
        <p:spPr>
          <a:xfrm>
            <a:off x="838200" y="365125"/>
            <a:ext cx="10515600" cy="6192875"/>
          </a:xfrm>
          <a:prstGeom prst="rect">
            <a:avLst/>
          </a:prstGeom>
          <a:noFill/>
        </p:spPr>
        <p:txBody>
          <a:bodyPr wrap="square" rtlCol="0">
            <a:noAutofit/>
          </a:bodyPr>
          <a:lstStyle/>
          <a:p>
            <a:pPr>
              <a:spcAft>
                <a:spcPts val="1400"/>
              </a:spcAft>
              <a:buNone/>
            </a:pPr>
            <a:r>
              <a:rPr sz="2600" b="1">
                <a:solidFill>
                  <a:srgbClr val="22D3EE"/>
                </a:solidFill>
                <a:latin typeface="Calibri"/>
              </a:rPr>
              <a:t>Marco teórico I: Funciones y modelo de costo</a:t>
            </a:r>
            <a:endParaRPr lang="es-CL" sz="1800" dirty="0">
              <a:effectLst/>
              <a:latin typeface="Calibri" panose="020F0502020204030204" pitchFamily="34" charset="0"/>
              <a:ea typeface="Calibri" panose="020F0502020204030204" pitchFamily="34" charset="0"/>
            </a:endParaRPr>
          </a:p>
          <a:p>
            <a:pPr marL="228600" indent="-228600">
              <a:lnSpc>
                <a:spcPct val="115000"/>
              </a:lnSpc>
              <a:spcAft>
                <a:spcPts val="600"/>
              </a:spcAft>
              <a:buClr>
                <a:srgbClr val="5EEAD4"/>
              </a:buClr>
              <a:buSzPct val="80000"/>
              <a:buFont typeface="Arial"/>
              <a:buChar char="▪"/>
            </a:pPr>
            <a:r>
              <a:rPr sz="1800">
                <a:solidFill>
                  <a:srgbClr val="E6EBF5"/>
                </a:solidFill>
                <a:latin typeface="Calibri"/>
              </a:rPr>
              <a:t>Una función cuadrática C(x) = a·x² + (b+c)·x + d permite representar el costo total en función de la cantidad de recursos (x).</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El coeficiente a &gt; 0 refleja que, a partir de cierto punto, agregar más instancias aumenta el costo (sobreaprovisionamiento).</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Referencias: Stewart, J. (2018). Cálculo: Trascendentes tempranas; Larson, R. y Edwards, B. (2018). Cálculo.</a:t>
            </a:r>
          </a:p>
        </p:txBody>
      </p:sp>
      <p:sp>
        <p:nvSpPr>
          <p:cNvPr id="5" name="Rectangle 4"/>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898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0382CF0-AE6B-20C3-4FB0-0E1632E85769}"/>
              </a:ext>
            </a:extLst>
          </p:cNvPr>
          <p:cNvSpPr txBox="1"/>
          <p:nvPr/>
        </p:nvSpPr>
        <p:spPr>
          <a:xfrm>
            <a:off x="838200" y="365125"/>
            <a:ext cx="10515600" cy="6192875"/>
          </a:xfrm>
          <a:prstGeom prst="rect">
            <a:avLst/>
          </a:prstGeom>
          <a:noFill/>
        </p:spPr>
        <p:txBody>
          <a:bodyPr wrap="square" rtlCol="0">
            <a:noAutofit/>
          </a:bodyPr>
          <a:lstStyle/>
          <a:p>
            <a:pPr>
              <a:spcAft>
                <a:spcPts val="1400"/>
              </a:spcAft>
              <a:buNone/>
            </a:pPr>
            <a:r>
              <a:rPr sz="2600" b="1">
                <a:solidFill>
                  <a:srgbClr val="22D3EE"/>
                </a:solidFill>
                <a:latin typeface="Calibri"/>
              </a:rPr>
              <a:t>Marco teórico II: Derivada y optimización</a:t>
            </a:r>
            <a:endParaRPr lang="es-CL" sz="1800" dirty="0">
              <a:effectLst/>
              <a:latin typeface="Calibri" panose="020F0502020204030204" pitchFamily="34" charset="0"/>
              <a:ea typeface="Calibri" panose="020F0502020204030204" pitchFamily="34" charset="0"/>
            </a:endParaRPr>
          </a:p>
          <a:p>
            <a:pPr marL="228600" indent="-228600">
              <a:lnSpc>
                <a:spcPct val="115000"/>
              </a:lnSpc>
              <a:spcAft>
                <a:spcPts val="600"/>
              </a:spcAft>
              <a:buClr>
                <a:srgbClr val="5EEAD4"/>
              </a:buClr>
              <a:buSzPct val="80000"/>
              <a:buFont typeface="Arial"/>
              <a:buChar char="▪"/>
            </a:pPr>
            <a:r>
              <a:rPr sz="1800">
                <a:solidFill>
                  <a:srgbClr val="E6EBF5"/>
                </a:solidFill>
                <a:latin typeface="Calibri"/>
              </a:rPr>
              <a:t>La derivada C'(x) representa la tasa de cambio del costo respecto al número de instancias (costo marginal).</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Un punto crítico se obtiene resolviendo C'(x) = 0.</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El criterio de la segunda derivada (C''(x) &gt; 0) confirma si ese punto corresponde a un mínimo.</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Estos conceptos corresponden a las unidades de límites, derivadas y aplicaciones de la derivada del curso.</a:t>
            </a:r>
          </a:p>
        </p:txBody>
      </p:sp>
      <p:sp>
        <p:nvSpPr>
          <p:cNvPr id="5" name="Rectangle 4"/>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07508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DF89448-F5E9-FC23-B52E-86C5CEDF6F15}"/>
              </a:ext>
            </a:extLst>
          </p:cNvPr>
          <p:cNvSpPr txBox="1"/>
          <p:nvPr/>
        </p:nvSpPr>
        <p:spPr>
          <a:xfrm>
            <a:off x="838200" y="365125"/>
            <a:ext cx="10515600" cy="6192875"/>
          </a:xfrm>
          <a:prstGeom prst="rect">
            <a:avLst/>
          </a:prstGeom>
          <a:noFill/>
        </p:spPr>
        <p:txBody>
          <a:bodyPr wrap="square" rtlCol="0">
            <a:noAutofit/>
          </a:bodyPr>
          <a:lstStyle/>
          <a:p>
            <a:pPr>
              <a:spcAft>
                <a:spcPts val="1400"/>
              </a:spcAft>
              <a:buNone/>
            </a:pPr>
            <a:r>
              <a:rPr sz="2600" b="1">
                <a:solidFill>
                  <a:srgbClr val="22D3EE"/>
                </a:solidFill>
                <a:latin typeface="Calibri"/>
              </a:rPr>
              <a:t>Marco teórico III: Cloud computing y costos</a:t>
            </a:r>
            <a:endParaRPr lang="es-CL" sz="1800" dirty="0">
              <a:effectLst/>
              <a:latin typeface="Calibri" panose="020F0502020204030204" pitchFamily="34" charset="0"/>
              <a:ea typeface="Calibri" panose="020F0502020204030204" pitchFamily="34" charset="0"/>
            </a:endParaRPr>
          </a:p>
          <a:p>
            <a:pPr marL="228600" indent="-228600">
              <a:lnSpc>
                <a:spcPct val="115000"/>
              </a:lnSpc>
              <a:spcAft>
                <a:spcPts val="600"/>
              </a:spcAft>
              <a:buClr>
                <a:srgbClr val="5EEAD4"/>
              </a:buClr>
              <a:buSzPct val="80000"/>
              <a:buFont typeface="Arial"/>
              <a:buChar char="▪"/>
            </a:pPr>
            <a:r>
              <a:rPr sz="1800">
                <a:solidFill>
                  <a:srgbClr val="E6EBF5"/>
                </a:solidFill>
                <a:latin typeface="Calibri"/>
              </a:rPr>
              <a:t>Los proveedores cloud (AWS, Azure, Vercel) cobran según los recursos utilizados (instancias, cómputo, almacenamiento).</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Un mal dimensionamiento de recursos es un problema real de la industria: sobrecostos o baja disponibilidad del servicio.</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Fuentes: documentación de precios de AWS y Azure, y buenas prácticas de "cost optimization" en la nube.</a:t>
            </a:r>
          </a:p>
        </p:txBody>
      </p:sp>
      <p:sp>
        <p:nvSpPr>
          <p:cNvPr id="5" name="Rectangle 4"/>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37297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915B06-FF25-3836-F5A2-6DD67FB17FE1}"/>
              </a:ext>
            </a:extLst>
          </p:cNvPr>
          <p:cNvSpPr txBox="1"/>
          <p:nvPr/>
        </p:nvSpPr>
        <p:spPr>
          <a:xfrm>
            <a:off x="838200" y="365125"/>
            <a:ext cx="10515600" cy="6192875"/>
          </a:xfrm>
          <a:prstGeom prst="rect">
            <a:avLst/>
          </a:prstGeom>
          <a:noFill/>
        </p:spPr>
        <p:txBody>
          <a:bodyPr wrap="square" rtlCol="0">
            <a:noAutofit/>
          </a:bodyPr>
          <a:lstStyle/>
          <a:p>
            <a:pPr>
              <a:spcAft>
                <a:spcPts val="1400"/>
              </a:spcAft>
              <a:buNone/>
            </a:pPr>
            <a:r>
              <a:rPr sz="2600" b="1">
                <a:solidFill>
                  <a:srgbClr val="22D3EE"/>
                </a:solidFill>
                <a:latin typeface="Calibri"/>
              </a:rPr>
              <a:t>Desarrollo, revisión de ideas y producto</a:t>
            </a:r>
            <a:endParaRPr lang="es-CL" dirty="0"/>
          </a:p>
          <a:p>
            <a:pPr marL="228600" indent="-228600">
              <a:lnSpc>
                <a:spcPct val="115000"/>
              </a:lnSpc>
              <a:spcAft>
                <a:spcPts val="600"/>
              </a:spcAft>
              <a:buClr>
                <a:srgbClr val="5EEAD4"/>
              </a:buClr>
              <a:buSzPct val="80000"/>
              <a:buFont typeface="Arial"/>
              <a:buChar char="▪"/>
            </a:pPr>
            <a:r>
              <a:rPr sz="1800">
                <a:solidFill>
                  <a:srgbClr val="E6EBF5"/>
                </a:solidFill>
                <a:latin typeface="Calibri"/>
              </a:rPr>
              <a:t>Se evaluaron distintos modelos de costo (lineal y cuadrático), optando por un modelo cuadrático simplificado que resume infraestructura + operación.</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Se derivó el modelo, se resolvió C'(x) = 0 y se verificó el mínimo con la segunda derivada.</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Se decidió comunicar el resultado mediante un producto tecnológico -un sitio web con simulador interactivo- en vez de solo un informe estático.</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El simulador permite ingresar distintos parámetros (a, b+c, d) y observar cómo cambia el punto óptimo.</a:t>
            </a:r>
          </a:p>
        </p:txBody>
      </p:sp>
      <p:sp>
        <p:nvSpPr>
          <p:cNvPr id="5" name="Rectangle 4"/>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09154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915B06-FF25-3836-F5A2-6DD67FB17FE1}"/>
              </a:ext>
            </a:extLst>
          </p:cNvPr>
          <p:cNvSpPr txBox="1"/>
          <p:nvPr/>
        </p:nvSpPr>
        <p:spPr>
          <a:xfrm>
            <a:off x="1258957" y="897114"/>
            <a:ext cx="5327484" cy="369332"/>
          </a:xfrm>
          <a:prstGeom prst="rect">
            <a:avLst/>
          </a:prstGeom>
          <a:noFill/>
        </p:spPr>
        <p:txBody>
          <a:bodyPr wrap="square" rtlCol="0">
            <a:noAutofit/>
          </a:bodyPr>
          <a:lstStyle/>
          <a:p>
            <a:pPr marR="31115">
              <a:spcAft>
                <a:spcPts val="1400"/>
              </a:spcAft>
              <a:buNone/>
            </a:pPr>
            <a:r>
              <a:rPr sz="2400" b="1" dirty="0">
                <a:solidFill>
                  <a:srgbClr val="22D3EE"/>
                </a:solidFill>
                <a:latin typeface="Calibri"/>
              </a:rPr>
              <a:t>Presentación de </a:t>
            </a:r>
            <a:r>
              <a:rPr sz="2400" b="1" dirty="0" err="1">
                <a:solidFill>
                  <a:srgbClr val="22D3EE"/>
                </a:solidFill>
                <a:latin typeface="Calibri"/>
              </a:rPr>
              <a:t>producto</a:t>
            </a:r>
            <a:r>
              <a:rPr sz="2400" b="1" dirty="0">
                <a:solidFill>
                  <a:srgbClr val="22D3EE"/>
                </a:solidFill>
                <a:latin typeface="Calibri"/>
              </a:rPr>
              <a:t> o </a:t>
            </a:r>
            <a:r>
              <a:rPr sz="2400" b="1" dirty="0" err="1">
                <a:solidFill>
                  <a:srgbClr val="22D3EE"/>
                </a:solidFill>
                <a:latin typeface="Calibri"/>
              </a:rPr>
              <a:t>prototipo</a:t>
            </a:r>
            <a:endParaRPr lang="es-CL" sz="1800" dirty="0">
              <a:effectLst/>
              <a:latin typeface="Calibri" panose="020F0502020204030204" pitchFamily="34" charset="0"/>
              <a:ea typeface="Calibri" panose="020F0502020204030204" pitchFamily="34" charset="0"/>
            </a:endParaRPr>
          </a:p>
        </p:txBody>
      </p:sp>
      <p:sp>
        <p:nvSpPr>
          <p:cNvPr id="5" name="TextBox 4"/>
          <p:cNvSpPr txBox="1"/>
          <p:nvPr/>
        </p:nvSpPr>
        <p:spPr>
          <a:xfrm>
            <a:off x="1258957" y="1554232"/>
            <a:ext cx="5327484" cy="500000"/>
          </a:xfrm>
          <a:prstGeom prst="rect">
            <a:avLst/>
          </a:prstGeom>
          <a:noFill/>
        </p:spPr>
        <p:txBody>
          <a:bodyPr wrap="square">
            <a:spAutoFit/>
          </a:bodyPr>
          <a:lstStyle/>
          <a:p>
            <a:pPr>
              <a:spcAft>
                <a:spcPts val="400"/>
              </a:spcAft>
              <a:buNone/>
            </a:pPr>
            <a:r>
              <a:rPr sz="1400" dirty="0">
                <a:solidFill>
                  <a:srgbClr val="E6EBF5"/>
                </a:solidFill>
                <a:latin typeface="Calibri"/>
              </a:rPr>
              <a:t>Sitio web del </a:t>
            </a:r>
            <a:r>
              <a:rPr sz="1400" dirty="0" err="1">
                <a:solidFill>
                  <a:srgbClr val="E6EBF5"/>
                </a:solidFill>
                <a:latin typeface="Calibri"/>
              </a:rPr>
              <a:t>proyecto</a:t>
            </a:r>
            <a:r>
              <a:rPr sz="1400" dirty="0">
                <a:solidFill>
                  <a:srgbClr val="E6EBF5"/>
                </a:solidFill>
                <a:latin typeface="Calibri"/>
              </a:rPr>
              <a:t> (</a:t>
            </a:r>
            <a:r>
              <a:rPr sz="1400" dirty="0" err="1">
                <a:solidFill>
                  <a:srgbClr val="E6EBF5"/>
                </a:solidFill>
                <a:latin typeface="Calibri"/>
              </a:rPr>
              <a:t>incluye</a:t>
            </a:r>
            <a:r>
              <a:rPr sz="1400" dirty="0">
                <a:solidFill>
                  <a:srgbClr val="E6EBF5"/>
                </a:solidFill>
                <a:latin typeface="Calibri"/>
              </a:rPr>
              <a:t> </a:t>
            </a:r>
            <a:r>
              <a:rPr sz="1400" dirty="0" err="1">
                <a:solidFill>
                  <a:srgbClr val="E6EBF5"/>
                </a:solidFill>
                <a:latin typeface="Calibri"/>
              </a:rPr>
              <a:t>simulador</a:t>
            </a:r>
            <a:r>
              <a:rPr sz="1400" dirty="0">
                <a:solidFill>
                  <a:srgbClr val="E6EBF5"/>
                </a:solidFill>
                <a:latin typeface="Calibri"/>
              </a:rPr>
              <a:t> </a:t>
            </a:r>
            <a:r>
              <a:rPr sz="1400" dirty="0" err="1">
                <a:solidFill>
                  <a:srgbClr val="E6EBF5"/>
                </a:solidFill>
                <a:latin typeface="Calibri"/>
              </a:rPr>
              <a:t>interactivo</a:t>
            </a:r>
            <a:r>
              <a:rPr sz="1400" dirty="0">
                <a:solidFill>
                  <a:srgbClr val="E6EBF5"/>
                </a:solidFill>
                <a:latin typeface="Calibri"/>
              </a:rPr>
              <a:t>): </a:t>
            </a:r>
            <a:r>
              <a:rPr sz="1400" b="1" dirty="0">
                <a:solidFill>
                  <a:srgbClr val="A855F7"/>
                </a:solidFill>
                <a:latin typeface="Calibri"/>
                <a:hlinkClick r:id="rId2"/>
              </a:rPr>
              <a:t>https://proyecto-calculo-optimizacion-cloud.vercel.app</a:t>
            </a:r>
          </a:p>
        </p:txBody>
      </p:sp>
      <p:sp>
        <p:nvSpPr>
          <p:cNvPr id="6" name="TextBox 5"/>
          <p:cNvSpPr txBox="1"/>
          <p:nvPr/>
        </p:nvSpPr>
        <p:spPr>
          <a:xfrm>
            <a:off x="1258957" y="2342018"/>
            <a:ext cx="9500000" cy="2500000"/>
          </a:xfrm>
          <a:prstGeom prst="rect">
            <a:avLst/>
          </a:prstGeom>
          <a:noFill/>
        </p:spPr>
        <p:txBody>
          <a:bodyPr wrap="square">
            <a:spAutoFit/>
          </a:bodyPr>
          <a:lstStyle/>
          <a:p>
            <a:endParaRPr dirty="0"/>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Producto</a:t>
            </a:r>
            <a:r>
              <a:rPr sz="1800" dirty="0">
                <a:solidFill>
                  <a:srgbClr val="E6EBF5"/>
                </a:solidFill>
                <a:latin typeface="Calibri"/>
              </a:rPr>
              <a:t>: sitio web (HTML, CSS, JavaScript) con un </a:t>
            </a:r>
            <a:r>
              <a:rPr sz="1800" dirty="0" err="1">
                <a:solidFill>
                  <a:srgbClr val="E6EBF5"/>
                </a:solidFill>
                <a:latin typeface="Calibri"/>
              </a:rPr>
              <a:t>simulador</a:t>
            </a:r>
            <a:r>
              <a:rPr sz="1800" dirty="0">
                <a:solidFill>
                  <a:srgbClr val="E6EBF5"/>
                </a:solidFill>
                <a:latin typeface="Calibri"/>
              </a:rPr>
              <a:t> </a:t>
            </a:r>
            <a:r>
              <a:rPr sz="1800" dirty="0" err="1">
                <a:solidFill>
                  <a:srgbClr val="E6EBF5"/>
                </a:solidFill>
                <a:latin typeface="Calibri"/>
              </a:rPr>
              <a:t>interactivo</a:t>
            </a:r>
            <a:r>
              <a:rPr sz="1800" dirty="0">
                <a:solidFill>
                  <a:srgbClr val="E6EBF5"/>
                </a:solidFill>
                <a:latin typeface="Calibri"/>
              </a:rPr>
              <a:t> </a:t>
            </a:r>
            <a:r>
              <a:rPr sz="1800" dirty="0" err="1">
                <a:solidFill>
                  <a:srgbClr val="E6EBF5"/>
                </a:solidFill>
                <a:latin typeface="Calibri"/>
              </a:rPr>
              <a:t>construido</a:t>
            </a:r>
            <a:r>
              <a:rPr sz="1800" dirty="0">
                <a:solidFill>
                  <a:srgbClr val="E6EBF5"/>
                </a:solidFill>
                <a:latin typeface="Calibri"/>
              </a:rPr>
              <a:t> con </a:t>
            </a:r>
            <a:r>
              <a:rPr sz="1800" dirty="0" err="1">
                <a:solidFill>
                  <a:srgbClr val="E6EBF5"/>
                </a:solidFill>
                <a:latin typeface="Calibri"/>
              </a:rPr>
              <a:t>Plotly.js</a:t>
            </a:r>
            <a:r>
              <a:rPr sz="1800" dirty="0">
                <a:solidFill>
                  <a:srgbClr val="E6EBF5"/>
                </a:solidFill>
                <a:latin typeface="Calibri"/>
              </a:rPr>
              <a:t>.</a:t>
            </a:r>
          </a:p>
          <a:p>
            <a:pPr marL="228600" indent="-228600">
              <a:lnSpc>
                <a:spcPct val="115000"/>
              </a:lnSpc>
              <a:spcAft>
                <a:spcPts val="600"/>
              </a:spcAft>
              <a:buClr>
                <a:srgbClr val="5EEAD4"/>
              </a:buClr>
              <a:buSzPct val="80000"/>
              <a:buFont typeface="Arial"/>
              <a:buChar char="▪"/>
            </a:pPr>
            <a:r>
              <a:rPr sz="1800" dirty="0">
                <a:solidFill>
                  <a:srgbClr val="E6EBF5"/>
                </a:solidFill>
                <a:latin typeface="Calibri"/>
              </a:rPr>
              <a:t>Grafica en </a:t>
            </a:r>
            <a:r>
              <a:rPr sz="1800" dirty="0" err="1">
                <a:solidFill>
                  <a:srgbClr val="E6EBF5"/>
                </a:solidFill>
                <a:latin typeface="Calibri"/>
              </a:rPr>
              <a:t>tiempo</a:t>
            </a:r>
            <a:r>
              <a:rPr sz="1800" dirty="0">
                <a:solidFill>
                  <a:srgbClr val="E6EBF5"/>
                </a:solidFill>
                <a:latin typeface="Calibri"/>
              </a:rPr>
              <a:t> real la </a:t>
            </a:r>
            <a:r>
              <a:rPr sz="1800" dirty="0" err="1">
                <a:solidFill>
                  <a:srgbClr val="E6EBF5"/>
                </a:solidFill>
                <a:latin typeface="Calibri"/>
              </a:rPr>
              <a:t>función</a:t>
            </a:r>
            <a:r>
              <a:rPr sz="1800" dirty="0">
                <a:solidFill>
                  <a:srgbClr val="E6EBF5"/>
                </a:solidFill>
                <a:latin typeface="Calibri"/>
              </a:rPr>
              <a:t> de </a:t>
            </a:r>
            <a:r>
              <a:rPr sz="1800" dirty="0" err="1">
                <a:solidFill>
                  <a:srgbClr val="E6EBF5"/>
                </a:solidFill>
                <a:latin typeface="Calibri"/>
              </a:rPr>
              <a:t>costo</a:t>
            </a:r>
            <a:r>
              <a:rPr sz="1800" dirty="0">
                <a:solidFill>
                  <a:srgbClr val="E6EBF5"/>
                </a:solidFill>
                <a:latin typeface="Calibri"/>
              </a:rPr>
              <a:t> C(x) y </a:t>
            </a:r>
            <a:r>
              <a:rPr sz="1800" dirty="0" err="1">
                <a:solidFill>
                  <a:srgbClr val="E6EBF5"/>
                </a:solidFill>
                <a:latin typeface="Calibri"/>
              </a:rPr>
              <a:t>su</a:t>
            </a:r>
            <a:r>
              <a:rPr sz="1800" dirty="0">
                <a:solidFill>
                  <a:srgbClr val="E6EBF5"/>
                </a:solidFill>
                <a:latin typeface="Calibri"/>
              </a:rPr>
              <a:t> </a:t>
            </a:r>
            <a:r>
              <a:rPr sz="1800" dirty="0" err="1">
                <a:solidFill>
                  <a:srgbClr val="E6EBF5"/>
                </a:solidFill>
                <a:latin typeface="Calibri"/>
              </a:rPr>
              <a:t>derivada</a:t>
            </a:r>
            <a:r>
              <a:rPr sz="1800" dirty="0">
                <a:solidFill>
                  <a:srgbClr val="E6EBF5"/>
                </a:solidFill>
                <a:latin typeface="Calibri"/>
              </a:rPr>
              <a:t> C'(x), </a:t>
            </a:r>
            <a:r>
              <a:rPr sz="1800" dirty="0" err="1">
                <a:solidFill>
                  <a:srgbClr val="E6EBF5"/>
                </a:solidFill>
                <a:latin typeface="Calibri"/>
              </a:rPr>
              <a:t>marcando</a:t>
            </a:r>
            <a:r>
              <a:rPr sz="1800" dirty="0">
                <a:solidFill>
                  <a:srgbClr val="E6EBF5"/>
                </a:solidFill>
                <a:latin typeface="Calibri"/>
              </a:rPr>
              <a:t> el punto </a:t>
            </a:r>
            <a:r>
              <a:rPr sz="1800" dirty="0" err="1">
                <a:solidFill>
                  <a:srgbClr val="E6EBF5"/>
                </a:solidFill>
                <a:latin typeface="Calibri"/>
              </a:rPr>
              <a:t>donde</a:t>
            </a:r>
            <a:r>
              <a:rPr sz="1800" dirty="0">
                <a:solidFill>
                  <a:srgbClr val="E6EBF5"/>
                </a:solidFill>
                <a:latin typeface="Calibri"/>
              </a:rPr>
              <a:t> C'(x) = 0.</a:t>
            </a:r>
          </a:p>
          <a:p>
            <a:pPr marL="228600" indent="-228600">
              <a:lnSpc>
                <a:spcPct val="115000"/>
              </a:lnSpc>
              <a:spcAft>
                <a:spcPts val="600"/>
              </a:spcAft>
              <a:buClr>
                <a:srgbClr val="5EEAD4"/>
              </a:buClr>
              <a:buSzPct val="80000"/>
              <a:buFont typeface="Arial"/>
              <a:buChar char="▪"/>
            </a:pPr>
            <a:r>
              <a:rPr sz="1800" dirty="0" err="1">
                <a:solidFill>
                  <a:srgbClr val="E6EBF5"/>
                </a:solidFill>
                <a:latin typeface="Calibri"/>
              </a:rPr>
              <a:t>Publicado</a:t>
            </a:r>
            <a:r>
              <a:rPr sz="1800" dirty="0">
                <a:solidFill>
                  <a:srgbClr val="E6EBF5"/>
                </a:solidFill>
                <a:latin typeface="Calibri"/>
              </a:rPr>
              <a:t> en la </a:t>
            </a:r>
            <a:r>
              <a:rPr sz="1800" dirty="0" err="1">
                <a:solidFill>
                  <a:srgbClr val="E6EBF5"/>
                </a:solidFill>
                <a:latin typeface="Calibri"/>
              </a:rPr>
              <a:t>nube</a:t>
            </a:r>
            <a:r>
              <a:rPr sz="1800" dirty="0">
                <a:solidFill>
                  <a:srgbClr val="E6EBF5"/>
                </a:solidFill>
                <a:latin typeface="Calibri"/>
              </a:rPr>
              <a:t> </a:t>
            </a:r>
            <a:r>
              <a:rPr sz="1800" dirty="0" err="1">
                <a:solidFill>
                  <a:srgbClr val="E6EBF5"/>
                </a:solidFill>
                <a:latin typeface="Calibri"/>
              </a:rPr>
              <a:t>mediante</a:t>
            </a:r>
            <a:r>
              <a:rPr sz="1800" dirty="0">
                <a:solidFill>
                  <a:srgbClr val="E6EBF5"/>
                </a:solidFill>
                <a:latin typeface="Calibri"/>
              </a:rPr>
              <a:t> </a:t>
            </a:r>
            <a:r>
              <a:rPr sz="1800" dirty="0" err="1">
                <a:solidFill>
                  <a:srgbClr val="E6EBF5"/>
                </a:solidFill>
                <a:latin typeface="Calibri"/>
              </a:rPr>
              <a:t>Vercel</a:t>
            </a:r>
            <a:r>
              <a:rPr sz="1800" dirty="0">
                <a:solidFill>
                  <a:srgbClr val="E6EBF5"/>
                </a:solidFill>
                <a:latin typeface="Calibri"/>
              </a:rPr>
              <a:t>, con </a:t>
            </a:r>
            <a:r>
              <a:rPr sz="1800" dirty="0" err="1">
                <a:solidFill>
                  <a:srgbClr val="E6EBF5"/>
                </a:solidFill>
                <a:latin typeface="Calibri"/>
              </a:rPr>
              <a:t>despliegue</a:t>
            </a:r>
            <a:r>
              <a:rPr sz="1800" dirty="0">
                <a:solidFill>
                  <a:srgbClr val="E6EBF5"/>
                </a:solidFill>
                <a:latin typeface="Calibri"/>
              </a:rPr>
              <a:t> continuo </a:t>
            </a:r>
            <a:r>
              <a:rPr sz="1800" dirty="0" err="1">
                <a:solidFill>
                  <a:srgbClr val="E6EBF5"/>
                </a:solidFill>
                <a:latin typeface="Calibri"/>
              </a:rPr>
              <a:t>desde</a:t>
            </a:r>
            <a:r>
              <a:rPr sz="1800" dirty="0">
                <a:solidFill>
                  <a:srgbClr val="E6EBF5"/>
                </a:solidFill>
                <a:latin typeface="Calibri"/>
              </a:rPr>
              <a:t> GitHub.</a:t>
            </a:r>
          </a:p>
          <a:p>
            <a:r>
              <a:rPr sz="1800">
                <a:solidFill>
                  <a:srgbClr val="E6EBF5"/>
                </a:solidFill>
              </a:rPr>
              <a:t>El video de presentación (con narración) también está publicado en ese sitio web, en la sección 'Video de presentación'.</a:t>
            </a:r>
          </a:p>
        </p:txBody>
      </p:sp>
      <p:sp>
        <p:nvSpPr>
          <p:cNvPr id="7" name="Rectangle 6"/>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02446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915B06-FF25-3836-F5A2-6DD67FB17FE1}"/>
              </a:ext>
            </a:extLst>
          </p:cNvPr>
          <p:cNvSpPr txBox="1"/>
          <p:nvPr/>
        </p:nvSpPr>
        <p:spPr>
          <a:xfrm>
            <a:off x="838200" y="365125"/>
            <a:ext cx="10515600" cy="6192875"/>
          </a:xfrm>
          <a:prstGeom prst="rect">
            <a:avLst/>
          </a:prstGeom>
          <a:noFill/>
        </p:spPr>
        <p:txBody>
          <a:bodyPr wrap="square" rtlCol="0">
            <a:noAutofit/>
          </a:bodyPr>
          <a:lstStyle/>
          <a:p>
            <a:pPr marR="31115">
              <a:spcAft>
                <a:spcPts val="1400"/>
              </a:spcAft>
              <a:buNone/>
            </a:pPr>
            <a:r>
              <a:rPr sz="2600" b="1">
                <a:solidFill>
                  <a:srgbClr val="22D3EE"/>
                </a:solidFill>
                <a:latin typeface="Calibri"/>
              </a:rPr>
              <a:t>Resultados y conclusiones</a:t>
            </a:r>
            <a:endParaRPr lang="es-CL" sz="1800" dirty="0">
              <a:effectLst/>
              <a:latin typeface="Calibri" panose="020F0502020204030204" pitchFamily="34" charset="0"/>
              <a:ea typeface="Calibri" panose="020F0502020204030204" pitchFamily="34" charset="0"/>
            </a:endParaRPr>
          </a:p>
          <a:p>
            <a:pPr>
              <a:spcBef>
                <a:spcPts val="1000"/>
              </a:spcBef>
              <a:spcAft>
                <a:spcPts val="400"/>
              </a:spcAft>
              <a:buNone/>
            </a:pPr>
            <a:r>
              <a:rPr sz="1800" b="1">
                <a:solidFill>
                  <a:srgbClr val="A855F7"/>
                </a:solidFill>
                <a:latin typeface="Calibri"/>
              </a:rPr>
              <a:t>Resultados:</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Modelo: C(x) = 0.5x² − 20x + 500  ;  C'(x) = x − 20</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Punto crítico: x = 20  ;  C''(x) = 1 &gt; 0 → mínimo</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Costo mínimo: C(20) = 300 USD/mes</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Comparación: 5 instancias → 412,5 USD ; 20 instancias (óptimo) → 300 USD ; 35 instancias → 412,5 USD (ahorro ≈ 27%)</a:t>
            </a:r>
          </a:p>
          <a:p>
            <a:pPr>
              <a:spcBef>
                <a:spcPts val="1000"/>
              </a:spcBef>
              <a:spcAft>
                <a:spcPts val="400"/>
              </a:spcAft>
              <a:buNone/>
            </a:pPr>
            <a:r>
              <a:rPr sz="1800" b="1">
                <a:solidFill>
                  <a:srgbClr val="A855F7"/>
                </a:solidFill>
                <a:latin typeface="Calibri"/>
              </a:rPr>
              <a:t>Conclusión:</a:t>
            </a:r>
          </a:p>
          <a:p>
            <a:pPr marL="228600" indent="-228600">
              <a:lnSpc>
                <a:spcPct val="115000"/>
              </a:lnSpc>
              <a:spcAft>
                <a:spcPts val="600"/>
              </a:spcAft>
              <a:buClr>
                <a:srgbClr val="5EEAD4"/>
              </a:buClr>
              <a:buSzPct val="80000"/>
              <a:buFont typeface="Arial"/>
              <a:buChar char="▪"/>
            </a:pPr>
            <a:r>
              <a:rPr sz="1800">
                <a:solidFill>
                  <a:srgbClr val="E6EBF5"/>
                </a:solidFill>
                <a:latin typeface="Calibri"/>
              </a:rPr>
              <a:t>La derivada permite tomar decisiones de arquitectura de software basadas en evidencia matemática, y no en estimaciones arbitrarias.</a:t>
            </a:r>
          </a:p>
        </p:txBody>
      </p:sp>
      <p:sp>
        <p:nvSpPr>
          <p:cNvPr id="5" name="Rectangle 4"/>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07538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61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915B06-FF25-3836-F5A2-6DD67FB17FE1}"/>
              </a:ext>
            </a:extLst>
          </p:cNvPr>
          <p:cNvSpPr txBox="1"/>
          <p:nvPr/>
        </p:nvSpPr>
        <p:spPr>
          <a:xfrm>
            <a:off x="838200" y="365125"/>
            <a:ext cx="10515600" cy="3431239"/>
          </a:xfrm>
          <a:prstGeom prst="rect">
            <a:avLst/>
          </a:prstGeom>
          <a:noFill/>
        </p:spPr>
        <p:txBody>
          <a:bodyPr wrap="square" rtlCol="0">
            <a:noAutofit/>
          </a:bodyPr>
          <a:lstStyle/>
          <a:p>
            <a:pPr marR="31115">
              <a:lnSpc>
                <a:spcPts val="1465"/>
              </a:lnSpc>
              <a:spcAft>
                <a:spcPts val="1400"/>
              </a:spcAft>
              <a:buNone/>
            </a:pPr>
            <a:r>
              <a:rPr sz="2600" b="1" dirty="0" err="1">
                <a:solidFill>
                  <a:srgbClr val="22D3EE"/>
                </a:solidFill>
                <a:latin typeface="Calibri"/>
              </a:rPr>
              <a:t>Bibliografía</a:t>
            </a:r>
            <a:r>
              <a:rPr sz="2600" b="1" dirty="0">
                <a:solidFill>
                  <a:srgbClr val="22D3EE"/>
                </a:solidFill>
                <a:latin typeface="Calibri"/>
              </a:rPr>
              <a:t> y </a:t>
            </a:r>
            <a:r>
              <a:rPr sz="2600" b="1" dirty="0" err="1">
                <a:solidFill>
                  <a:srgbClr val="22D3EE"/>
                </a:solidFill>
                <a:latin typeface="Calibri"/>
              </a:rPr>
              <a:t>fuentes</a:t>
            </a:r>
            <a:r>
              <a:rPr sz="2600" b="1" dirty="0">
                <a:solidFill>
                  <a:srgbClr val="22D3EE"/>
                </a:solidFill>
                <a:latin typeface="Calibri"/>
              </a:rPr>
              <a:t> de </a:t>
            </a:r>
            <a:r>
              <a:rPr sz="2600" b="1" dirty="0" err="1">
                <a:solidFill>
                  <a:srgbClr val="22D3EE"/>
                </a:solidFill>
                <a:latin typeface="Calibri"/>
              </a:rPr>
              <a:t>información</a:t>
            </a:r>
            <a:endParaRPr lang="es-419" sz="2600" b="1" dirty="0">
              <a:solidFill>
                <a:srgbClr val="22D3EE"/>
              </a:solidFill>
              <a:latin typeface="Calibri"/>
            </a:endParaRPr>
          </a:p>
          <a:p>
            <a:pPr marR="31115">
              <a:lnSpc>
                <a:spcPts val="1465"/>
              </a:lnSpc>
              <a:spcAft>
                <a:spcPts val="1400"/>
              </a:spcAft>
              <a:buNone/>
            </a:pPr>
            <a:endParaRPr lang="es-CL" sz="1800" dirty="0">
              <a:effectLst/>
              <a:latin typeface="Calibri" panose="020F0502020204030204" pitchFamily="34" charset="0"/>
              <a:ea typeface="Calibri" panose="020F0502020204030204" pitchFamily="34" charset="0"/>
            </a:endParaRPr>
          </a:p>
          <a:p>
            <a:pPr marL="228600" indent="-228600">
              <a:lnSpc>
                <a:spcPct val="115000"/>
              </a:lnSpc>
              <a:spcAft>
                <a:spcPts val="600"/>
              </a:spcAft>
              <a:buClr>
                <a:srgbClr val="5EEAD4"/>
              </a:buClr>
              <a:buSzPct val="80000"/>
              <a:buFont typeface="Arial"/>
              <a:buChar char="▪"/>
            </a:pPr>
            <a:r>
              <a:rPr sz="1600" dirty="0">
                <a:solidFill>
                  <a:srgbClr val="E6EBF5"/>
                </a:solidFill>
                <a:latin typeface="Calibri"/>
              </a:rPr>
              <a:t>Documentación oficial de precios de AWS EC2: https://aws.amazon.com/ec2/pricing/</a:t>
            </a:r>
          </a:p>
          <a:p>
            <a:pPr marL="228600" indent="-228600">
              <a:lnSpc>
                <a:spcPct val="115000"/>
              </a:lnSpc>
              <a:spcAft>
                <a:spcPts val="600"/>
              </a:spcAft>
              <a:buClr>
                <a:srgbClr val="5EEAD4"/>
              </a:buClr>
              <a:buSzPct val="80000"/>
              <a:buFont typeface="Arial"/>
              <a:buChar char="▪"/>
            </a:pPr>
            <a:r>
              <a:rPr sz="1600" dirty="0">
                <a:solidFill>
                  <a:srgbClr val="E6EBF5"/>
                </a:solidFill>
                <a:latin typeface="Calibri"/>
              </a:rPr>
              <a:t>Documentación de sympy: https://docs.sympy.org/</a:t>
            </a:r>
          </a:p>
          <a:p>
            <a:pPr marL="228600" indent="-228600">
              <a:lnSpc>
                <a:spcPct val="115000"/>
              </a:lnSpc>
              <a:spcAft>
                <a:spcPts val="600"/>
              </a:spcAft>
              <a:buClr>
                <a:srgbClr val="5EEAD4"/>
              </a:buClr>
              <a:buSzPct val="80000"/>
              <a:buFont typeface="Arial"/>
              <a:buChar char="▪"/>
            </a:pPr>
            <a:r>
              <a:rPr sz="1600" dirty="0">
                <a:solidFill>
                  <a:srgbClr val="E6EBF5"/>
                </a:solidFill>
                <a:latin typeface="Calibri"/>
              </a:rPr>
              <a:t>Apuntes de clases — Unidad 3: Aplicación de la Derivada.</a:t>
            </a:r>
          </a:p>
        </p:txBody>
      </p:sp>
      <p:sp>
        <p:nvSpPr>
          <p:cNvPr id="5" name="Rectangle 4"/>
          <p:cNvSpPr/>
          <p:nvPr/>
        </p:nvSpPr>
        <p:spPr>
          <a:xfrm>
            <a:off x="0" y="0"/>
            <a:ext cx="12192000" cy="45720"/>
          </a:xfrm>
          <a:prstGeom prst="rect">
            <a:avLst/>
          </a:prstGeom>
          <a:gradFill rotWithShape="1">
            <a:gsLst>
              <a:gs pos="0">
                <a:srgbClr val="22D3EE"/>
              </a:gs>
              <a:gs pos="100000">
                <a:srgbClr val="A855F7"/>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179340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3AC9BC-3A48-41FB-89C8-97DFFCFF99CC}">
  <ds:schemaRefs>
    <ds:schemaRef ds:uri="http://www.w3.org/XML/1998/namespace"/>
    <ds:schemaRef ds:uri="e18e1d99-ad59-48f1-b4b7-e09c670c4281"/>
    <ds:schemaRef ds:uri="http://schemas.microsoft.com/office/2006/documentManagement/types"/>
    <ds:schemaRef ds:uri="http://purl.org/dc/dcmitype/"/>
    <ds:schemaRef ds:uri="http://purl.org/dc/elements/1.1/"/>
    <ds:schemaRef ds:uri="http://purl.org/dc/terms/"/>
    <ds:schemaRef ds:uri="http://schemas.microsoft.com/office/infopath/2007/PartnerControls"/>
    <ds:schemaRef ds:uri="http://schemas.openxmlformats.org/package/2006/metadata/core-properties"/>
    <ds:schemaRef ds:uri="044690ba-3bcd-4bf0-9bed-6c935b699a1b"/>
    <ds:schemaRef ds:uri="http://schemas.microsoft.com/office/2006/metadata/properties"/>
  </ds:schemaRefs>
</ds:datastoreItem>
</file>

<file path=customXml/itemProps3.xml><?xml version="1.0" encoding="utf-8"?>
<ds:datastoreItem xmlns:ds="http://schemas.openxmlformats.org/officeDocument/2006/customXml" ds:itemID="{6CD2E0C6-02D9-4725-AA2D-08585DAEFE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135</TotalTime>
  <Words>1223</Words>
  <Application>Microsoft Macintosh PowerPoint</Application>
  <PresentationFormat>Panorámica</PresentationFormat>
  <Paragraphs>110</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Minimización del costo de alojamiento en la nube</vt:lpstr>
      <vt:lpstr>      Definición del proyecto Proyecto de Aprendizaje Basado en Proyectos (ABPro) que aplica la derivada a un problema real de ingeniería de software. Consiste en modelar el costo mensual de alojamiento en la nube en función del número de instancias contratadas. Mediante la derivada de esa función se determina el punto exacto donde el costo es mínimo. El resultado se comunica a través de un sitio web con un simulador interactivo.</vt:lpstr>
      <vt:lpstr>      Tema, nociones matemáticas y problemática Tema: Optimización de costos de infraestructura cloud mediante cálculo diferencial. Nociones matemáticas: Funciones cuadráticas, derivada, puntos críticos y criterio de la segunda derivada. Problemática: Sobredimensionar recursos implica pagar de más; subdimensionarlos afecta el rendimiento del servicio. Pregunta central: ¿cómo determinar matemáticamente el número de instancias que minimiza el costo?</vt:lpstr>
      <vt:lpstr>Objetivos y preguntas de investigación Objetivo general: Modelar el costo de infraestructura cloud como función del número de instancias y aplicar la derivada para hallar el costo mínimo. Objetivos específicos: Construir la función de costo C(x). Calcular C'(x) e identificar sus puntos críticos. Verificar el mínimo con el criterio de la segunda derivada. Desarrollar un simulador interactivo que visualice C(x) y C'(x). Pregunta de investigación: ¿Cuál es el número óptimo de instancias que minimiza el costo mensual, y cómo se determina usando la derivada?</vt:lpstr>
      <vt:lpstr>Temas iniciales involucrados Funciones polinomiales (función cuadrática de costo). Límites y continuidad. Reglas de derivación. Puntos críticos y criterio de la primera y segunda derivada. Optimización aplicada a problemas de ingeniería.</vt:lpstr>
      <vt:lpstr>Cronograma y materiales a utilizar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Carlos Castro Maldonado</dc:creator>
  <cp:lastModifiedBy>ANDRES ESTEBAN CARRASCO VALDES</cp:lastModifiedBy>
  <cp:revision>14</cp:revision>
  <dcterms:created xsi:type="dcterms:W3CDTF">2023-08-31T16:26:40Z</dcterms:created>
  <dcterms:modified xsi:type="dcterms:W3CDTF">2026-07-20T01:28:51Z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